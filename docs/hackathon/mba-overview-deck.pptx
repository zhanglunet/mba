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377440"/>
            <a:ext cx="91440" cy="2103120"/>
          </a:xfrm>
          <a:prstGeom prst="rect">
            <a:avLst/>
          </a:prstGeom>
          <a:solidFill>
            <a:srgbClr val="F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F7A4D"/>
                </a:solidFill>
                <a:latin typeface="Menlo"/>
              </a:rPr>
              <a:t>PROJECT OVERVIEW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E9EEF5"/>
                </a:solidFill>
                <a:latin typeface="PingFang SC"/>
              </a:rPr>
              <a:t>MBA</a:t>
            </a:r>
            <a:r>
              <a:rPr sz="6000" b="0">
                <a:solidFill>
                  <a:srgbClr val="9AA6B2"/>
                </a:solidFill>
                <a:latin typeface="PingFang SC"/>
              </a:rPr>
              <a:t> — </a:t>
            </a:r>
            <a:r>
              <a:rPr sz="6000" b="1">
                <a:solidFill>
                  <a:srgbClr val="FF7A4D"/>
                </a:solidFill>
                <a:latin typeface="PingFang SC"/>
              </a:rPr>
              <a:t>Metric Brand Auditor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>
                <a:solidFill>
                  <a:srgbClr val="E9EEF5"/>
                </a:solidFill>
                <a:latin typeface="PingFang SC"/>
              </a:rPr>
              <a:t>把品牌影响力做成可调研、可打分、可比较、可复盘的智能资产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9AA6B2"/>
                </a:solidFill>
                <a:latin typeface="PingFang SC"/>
              </a:rPr>
              <a:t>Audit pipeline that turns brand influence into a versioned, scoreable signal asset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9EEF5"/>
                </a:solidFill>
                <a:latin typeface="PingFang SC"/>
              </a:rPr>
              <a:t>mbabrand.com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58521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BOTLEARN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61264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9EEF5"/>
                </a:solidFill>
                <a:latin typeface="PingFang SC"/>
              </a:rPr>
              <a:t>metric-brand-auditor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58521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61264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9EEF5"/>
                </a:solidFill>
                <a:latin typeface="PingFang SC"/>
              </a:rPr>
              <a:t>Jason · 清风 · John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58521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CO-PILOT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61264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9EEF5"/>
                </a:solidFill>
                <a:latin typeface="PingFang SC"/>
              </a:rPr>
              <a:t>Claude Opus 4.7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02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MBA · Metric Brand Auditor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7A4D"/>
                </a:solidFill>
                <a:latin typeface="Menlo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548640" cy="54864"/>
          </a:xfrm>
          <a:prstGeom prst="rect">
            <a:avLst/>
          </a:prstGeom>
          <a:solidFill>
            <a:srgbClr val="F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E9EEF5"/>
                </a:solidFill>
                <a:latin typeface="PingFang SC"/>
              </a:rPr>
              <a:t>本场分 5 个部分讲完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7A4D"/>
                </a:solidFill>
                <a:latin typeface="Menl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E9EEF5"/>
                </a:solidFill>
                <a:latin typeface="PingFang SC"/>
              </a:rPr>
              <a:t>要解决的问题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103120"/>
            <a:ext cx="5760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9AA6B2"/>
                </a:solidFill>
                <a:latin typeface="PingFang SC"/>
              </a:rPr>
              <a:t>Brand influence is unauditable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7A4D"/>
                </a:solidFill>
                <a:latin typeface="Menl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88036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E9EEF5"/>
                </a:solidFill>
                <a:latin typeface="PingFang SC"/>
              </a:rPr>
              <a:t>系统架构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880360"/>
            <a:ext cx="5760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9AA6B2"/>
                </a:solidFill>
                <a:latin typeface="PingFang SC"/>
              </a:rPr>
              <a:t>5-phase pipeline · 4-layer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7A4D"/>
                </a:solidFill>
                <a:latin typeface="Menl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65760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E9EEF5"/>
                </a:solidFill>
                <a:latin typeface="PingFang SC"/>
              </a:rPr>
              <a:t>程序如何开发的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657600"/>
            <a:ext cx="5760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9AA6B2"/>
                </a:solidFill>
                <a:latin typeface="PingFang SC"/>
              </a:rPr>
              <a:t>Multi-agent + perspective DNA + 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3484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7A4D"/>
                </a:solidFill>
                <a:latin typeface="Menlo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43484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E9EEF5"/>
                </a:solidFill>
                <a:latin typeface="PingFang SC"/>
              </a:rPr>
              <a:t>样例报告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434840"/>
            <a:ext cx="5760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9AA6B2"/>
                </a:solidFill>
                <a:latin typeface="PingFang SC"/>
              </a:rPr>
              <a:t>Lenovo 0992.HK · 5-judge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21208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FF7A4D"/>
                </a:solidFill>
                <a:latin typeface="Menlo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1208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E9EEF5"/>
                </a:solidFill>
                <a:latin typeface="PingFang SC"/>
              </a:rPr>
              <a:t>怎么使用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5212080"/>
            <a:ext cx="5760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9AA6B2"/>
                </a:solidFill>
                <a:latin typeface="PingFang SC"/>
              </a:rPr>
              <a:t>One-line CLI · zero-dep entry · evolution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F7A4D"/>
                </a:solidFill>
                <a:latin typeface="Menlo"/>
              </a:rPr>
              <a:t>SECTION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>
                <a:solidFill>
                  <a:srgbClr val="E9EEF5"/>
                </a:solidFill>
                <a:latin typeface="PingFang SC"/>
              </a:rPr>
              <a:t>要解决的问题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9768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>
                <a:solidFill>
                  <a:srgbClr val="9AA6B2"/>
                </a:solidFill>
                <a:latin typeface="PingFang SC"/>
              </a:rPr>
              <a:t>Brand influence is important — yet remains unauditable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731520" cy="54864"/>
          </a:xfrm>
          <a:prstGeom prst="rect">
            <a:avLst/>
          </a:prstGeom>
          <a:solidFill>
            <a:srgbClr val="F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04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MBA · Metric Brand Auditor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7A4D"/>
                </a:solidFill>
                <a:latin typeface="Menlo"/>
              </a:rPr>
              <a:t>PROBLEM · 现状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548640" cy="54864"/>
          </a:xfrm>
          <a:prstGeom prst="rect">
            <a:avLst/>
          </a:prstGeom>
          <a:solidFill>
            <a:srgbClr val="F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E9EEF5"/>
                </a:solidFill>
                <a:latin typeface="PingFang SC"/>
              </a:rPr>
              <a:t>今天大家怎么判断「品牌」？三种方式都有硬伤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9AA6B2"/>
                </a:solidFill>
                <a:latin typeface="Menlo"/>
              </a:rPr>
              <a:t>现有方式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10312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9AA6B2"/>
                </a:solidFill>
                <a:latin typeface="Menlo"/>
              </a:rPr>
              <a:t>看起来很有用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103120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9AA6B2"/>
                </a:solidFill>
                <a:latin typeface="Menlo"/>
              </a:rPr>
              <a:t>但回答不了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2880360"/>
            <a:ext cx="11247120" cy="0"/>
          </a:xfrm>
          <a:prstGeom prst="line">
            <a:avLst/>
          </a:prstGeom>
          <a:ln w="9525">
            <a:solidFill>
              <a:srgbClr val="1F26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292608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7A4D"/>
                </a:solidFill>
                <a:latin typeface="PingFang SC"/>
              </a:rPr>
              <a:t>咨询公司报告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92608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深度访谈、行业对比、漂亮 deck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926080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一次性 · 主观 · 不可复盘 · 半年后没法核对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3703320"/>
            <a:ext cx="11247120" cy="0"/>
          </a:xfrm>
          <a:prstGeom prst="line">
            <a:avLst/>
          </a:prstGeom>
          <a:ln w="3175">
            <a:solidFill>
              <a:srgbClr val="1F26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374904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7A4D"/>
                </a:solidFill>
                <a:latin typeface="PingFang SC"/>
              </a:rPr>
              <a:t>舆情 / 社媒监测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4904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声量、曝光、情绪分布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749040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声量高 ≠ 影响力 · 没有品类定义权诊断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4526280"/>
            <a:ext cx="11247120" cy="0"/>
          </a:xfrm>
          <a:prstGeom prst="line">
            <a:avLst/>
          </a:prstGeom>
          <a:ln w="3175">
            <a:solidFill>
              <a:srgbClr val="1F26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45720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7A4D"/>
                </a:solidFill>
                <a:latin typeface="PingFang SC"/>
              </a:rPr>
              <a:t>创始人 / 投资人自评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57200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经验丰富、直觉准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572000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无统一口径 · 不可跨公司比 · 不可跨时间比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F1C453"/>
                </a:solidFill>
                <a:latin typeface="PingFang SC"/>
              </a:rPr>
              <a:t>财务有审计、产品有数据分析、销售有 CRM、舆情有 monitoring —— 品牌影响力没有审计协议。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05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MBA · Metric Brand Auditor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7A4D"/>
                </a:solidFill>
                <a:latin typeface="Menlo"/>
              </a:rPr>
              <a:t>PROBLEM · 升维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548640" cy="54864"/>
          </a:xfrm>
          <a:prstGeom prst="rect">
            <a:avLst/>
          </a:prstGeom>
          <a:solidFill>
            <a:srgbClr val="F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E9EEF5"/>
                </a:solidFill>
                <a:latin typeface="PingFang SC"/>
              </a:rPr>
              <a:t>更大的变化：AI 时代，品牌正在被 Agent 阅读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394960" cy="3474720"/>
          </a:xfrm>
          <a:prstGeom prst="rect">
            <a:avLst/>
          </a:prstGeom>
          <a:solidFill>
            <a:srgbClr val="14181E"/>
          </a:solidFill>
          <a:ln w="6350">
            <a:solidFill>
              <a:srgbClr val="1F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9AA6B2"/>
                </a:solidFill>
                <a:latin typeface="Menlo"/>
              </a:rPr>
              <a:t>过去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800" b="0">
                <a:solidFill>
                  <a:srgbClr val="E9EEF5"/>
                </a:solidFill>
                <a:latin typeface="PingFang SC"/>
              </a:rPr>
              <a:t>品牌主要影响人。</a:t>
            </a:r>
          </a:p>
          <a:p>
            <a:pPr algn="l">
              <a:lnSpc>
                <a:spcPct val="155000"/>
              </a:lnSpc>
            </a:pPr>
            <a:r>
              <a:rPr sz="1800" b="0">
                <a:solidFill>
                  <a:srgbClr val="E9EEF5"/>
                </a:solidFill>
                <a:latin typeface="PingFang SC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800" b="0">
                <a:solidFill>
                  <a:srgbClr val="E9EEF5"/>
                </a:solidFill>
                <a:latin typeface="PingFang SC"/>
              </a:rPr>
              <a:t>消费者怎么感知它，投资人怎么理解它，媒体怎么叙述它，候选人愿不愿意加入它。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5394960" cy="3474720"/>
          </a:xfrm>
          <a:prstGeom prst="rect">
            <a:avLst/>
          </a:prstGeom>
          <a:solidFill>
            <a:srgbClr val="14181E"/>
          </a:solidFill>
          <a:ln w="6350">
            <a:solidFill>
              <a:srgbClr val="FF7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F7A4D"/>
                </a:solidFill>
                <a:latin typeface="Menlo"/>
              </a:rPr>
              <a:t>未来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74320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800" b="0">
                <a:solidFill>
                  <a:srgbClr val="E9EEF5"/>
                </a:solidFill>
                <a:latin typeface="PingFang SC"/>
              </a:rPr>
              <a:t>越来越多的判断会被 Agent 参与甚至代理：</a:t>
            </a:r>
          </a:p>
          <a:p>
            <a:pPr algn="l">
              <a:lnSpc>
                <a:spcPct val="155000"/>
              </a:lnSpc>
            </a:pPr>
            <a:r>
              <a:rPr sz="1800" b="0">
                <a:solidFill>
                  <a:srgbClr val="E9EEF5"/>
                </a:solidFill>
                <a:latin typeface="PingFang SC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800" b="0">
                <a:solidFill>
                  <a:srgbClr val="E9EEF5"/>
                </a:solidFill>
                <a:latin typeface="PingFang SC"/>
              </a:rPr>
              <a:t>投资 Agent 筛公司 · 采购 Agent 选供应商</a:t>
            </a:r>
          </a:p>
          <a:p>
            <a:pPr algn="l">
              <a:lnSpc>
                <a:spcPct val="155000"/>
              </a:lnSpc>
            </a:pPr>
            <a:r>
              <a:rPr sz="1800" b="0">
                <a:solidFill>
                  <a:srgbClr val="E9EEF5"/>
                </a:solidFill>
                <a:latin typeface="PingFang SC"/>
              </a:rPr>
              <a:t>招聘 Agent 理解雇主 · 战略 Agent 追踪竞争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>
                <a:solidFill>
                  <a:srgbClr val="FF7A4D"/>
                </a:solidFill>
                <a:latin typeface="PingFang SC"/>
              </a:rPr>
              <a:t>品牌正在从「人类心智资产」变成「智能体世界里可识别、可比较、可调用的信号资产」。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06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MBA · Metric Brand Auditor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7A4D"/>
                </a:solidFill>
                <a:latin typeface="Menlo"/>
              </a:rPr>
              <a:t>PROBLEM · 三机制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548640" cy="54864"/>
          </a:xfrm>
          <a:prstGeom prst="rect">
            <a:avLst/>
          </a:prstGeom>
          <a:solidFill>
            <a:srgbClr val="F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E9EEF5"/>
                </a:solidFill>
                <a:latin typeface="PingFang SC"/>
              </a:rPr>
              <a:t>三个老问题 → MBA 的三个机制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9AA6B2"/>
                </a:solidFill>
                <a:latin typeface="Menlo"/>
              </a:rPr>
              <a:t>传统报告的问题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7132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9AA6B2"/>
                </a:solidFill>
                <a:latin typeface="Menlo"/>
              </a:rPr>
              <a:t>MBA 的应对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2971800"/>
            <a:ext cx="11247120" cy="0"/>
          </a:xfrm>
          <a:prstGeom prst="line">
            <a:avLst/>
          </a:prstGeom>
          <a:ln w="9525">
            <a:solidFill>
              <a:srgbClr val="1F26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301752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7A4D"/>
                </a:solidFill>
                <a:latin typeface="PingFang SC"/>
              </a:rPr>
              <a:t>单线程单视角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017520"/>
            <a:ext cx="7132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N 路并行 sub-agent + 5 位人物评委独立打分，Lead 只做合成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3886200"/>
            <a:ext cx="11247120" cy="0"/>
          </a:xfrm>
          <a:prstGeom prst="line">
            <a:avLst/>
          </a:prstGeom>
          <a:ln w="3175">
            <a:solidFill>
              <a:srgbClr val="1F26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393192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7A4D"/>
                </a:solidFill>
                <a:latin typeface="PingFang SC"/>
              </a:rPr>
              <a:t>不可复盘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931920"/>
            <a:ext cx="7132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版本化目录 reports/&lt;brand&gt;/versions/v{n}_{date}.{md,html}，evolution 滚动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" y="4800600"/>
            <a:ext cx="11247120" cy="0"/>
          </a:xfrm>
          <a:prstGeom prst="line">
            <a:avLst/>
          </a:prstGeom>
          <a:ln w="3175">
            <a:solidFill>
              <a:srgbClr val="1F26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484632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7A4D"/>
                </a:solidFill>
                <a:latin typeface="PingFang SC"/>
              </a:rPr>
              <a:t>打分主观、口径漂移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846320"/>
            <a:ext cx="7132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固定 5 镜头 × 7 维度，跨品牌、跨评委、跨时间同口径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F7A4D"/>
                </a:solidFill>
                <a:latin typeface="Menlo"/>
              </a:rPr>
              <a:t>SECTION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>
                <a:solidFill>
                  <a:srgbClr val="E9EEF5"/>
                </a:solidFill>
                <a:latin typeface="PingFang SC"/>
              </a:rPr>
              <a:t>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9768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>
                <a:solidFill>
                  <a:srgbClr val="9AA6B2"/>
                </a:solidFill>
                <a:latin typeface="PingFang SC"/>
              </a:rPr>
              <a:t>5-phase orchestrated pipeline · 4-layer repo · 7×5 scoring grid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731520" cy="54864"/>
          </a:xfrm>
          <a:prstGeom prst="rect">
            <a:avLst/>
          </a:prstGeom>
          <a:solidFill>
            <a:srgbClr val="F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08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MBA · Metric Brand Auditor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7A4D"/>
                </a:solidFill>
                <a:latin typeface="Menlo"/>
              </a:rPr>
              <a:t>ARCHITECTURE ·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548640" cy="54864"/>
          </a:xfrm>
          <a:prstGeom prst="rect">
            <a:avLst/>
          </a:prstGeom>
          <a:solidFill>
            <a:srgbClr val="F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E9EEF5"/>
                </a:solidFill>
                <a:latin typeface="PingFang SC"/>
              </a:rPr>
              <a:t>流水线 5 阶段（FRESH 模式）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57400"/>
            <a:ext cx="1280160" cy="548640"/>
          </a:xfrm>
          <a:prstGeom prst="rect">
            <a:avLst/>
          </a:prstGeom>
          <a:solidFill>
            <a:srgbClr val="14181E"/>
          </a:solidFill>
          <a:ln w="6350">
            <a:solidFill>
              <a:srgbClr val="1F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FF7A4D"/>
                </a:solidFill>
                <a:latin typeface="Menlo"/>
              </a:rPr>
              <a:t>Phase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0574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E9EEF5"/>
                </a:solidFill>
                <a:latin typeface="PingFang SC"/>
              </a:rPr>
              <a:t>Router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05740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9AA6B2"/>
                </a:solidFill>
                <a:latin typeface="PingFang SC"/>
              </a:rPr>
              <a:t>检查 report.md 是否存在 → 走 FRESH 或 EVOLUTION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15768"/>
            <a:ext cx="1280160" cy="548640"/>
          </a:xfrm>
          <a:prstGeom prst="rect">
            <a:avLst/>
          </a:prstGeom>
          <a:solidFill>
            <a:srgbClr val="14181E"/>
          </a:solidFill>
          <a:ln w="6350">
            <a:solidFill>
              <a:srgbClr val="1F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15768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FF7A4D"/>
                </a:solidFill>
                <a:latin typeface="Menlo"/>
              </a:rP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71576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E9EEF5"/>
                </a:solidFill>
                <a:latin typeface="PingFang SC"/>
              </a:rPr>
              <a:t>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715768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9AA6B2"/>
                </a:solidFill>
                <a:latin typeface="PingFang SC"/>
              </a:rPr>
              <a:t>Lead 起草 PRD，用户确认维度（GATE 1）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74136"/>
            <a:ext cx="1280160" cy="548640"/>
          </a:xfrm>
          <a:prstGeom prst="rect">
            <a:avLst/>
          </a:prstGeom>
          <a:solidFill>
            <a:srgbClr val="14181E"/>
          </a:solidFill>
          <a:ln w="6350">
            <a:solidFill>
              <a:srgbClr val="1F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74136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FF7A4D"/>
                </a:solidFill>
                <a:latin typeface="Menlo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374136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E9EEF5"/>
                </a:solidFill>
                <a:latin typeface="PingFang SC"/>
              </a:rPr>
              <a:t>Parallel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374136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9AA6B2"/>
                </a:solidFill>
                <a:latin typeface="PingFang SC"/>
              </a:rPr>
              <a:t>一条消息派发 N 个 sub-agent + 1 个 wuying 云浏览器 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32504"/>
            <a:ext cx="1280160" cy="548640"/>
          </a:xfrm>
          <a:prstGeom prst="rect">
            <a:avLst/>
          </a:prstGeom>
          <a:solidFill>
            <a:srgbClr val="14181E"/>
          </a:solidFill>
          <a:ln w="6350">
            <a:solidFill>
              <a:srgbClr val="1F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032504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FF7A4D"/>
                </a:solidFill>
                <a:latin typeface="Menlo"/>
              </a:rP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032504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E9EEF5"/>
                </a:solidFill>
                <a:latin typeface="PingFang SC"/>
              </a:rPr>
              <a:t>Synthesis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032504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9AA6B2"/>
                </a:solidFill>
                <a:latin typeface="PingFang SC"/>
              </a:rPr>
              <a:t>Lead 合成 _raw/，产出 synthesis.md（杠杆地图 + 脆弱边缘 + 矛盾点）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690872"/>
            <a:ext cx="1280160" cy="548640"/>
          </a:xfrm>
          <a:prstGeom prst="rect">
            <a:avLst/>
          </a:prstGeom>
          <a:solidFill>
            <a:srgbClr val="14181E"/>
          </a:solidFill>
          <a:ln w="6350">
            <a:solidFill>
              <a:srgbClr val="1F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690872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FF7A4D"/>
                </a:solidFill>
                <a:latin typeface="Menlo"/>
              </a:rPr>
              <a:t>Phase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690872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E9EEF5"/>
                </a:solidFill>
                <a:latin typeface="PingFang SC"/>
              </a:rPr>
              <a:t>5-Judge Panel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690872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9AA6B2"/>
                </a:solidFill>
                <a:latin typeface="PingFang SC"/>
              </a:rPr>
              <a:t>并行派发 5 评委 skill，独立打分互不可见，落到 reviews/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349239"/>
            <a:ext cx="1280160" cy="548640"/>
          </a:xfrm>
          <a:prstGeom prst="rect">
            <a:avLst/>
          </a:prstGeom>
          <a:solidFill>
            <a:srgbClr val="14181E"/>
          </a:solidFill>
          <a:ln w="6350">
            <a:solidFill>
              <a:srgbClr val="1F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349239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>
                <a:solidFill>
                  <a:srgbClr val="FF7A4D"/>
                </a:solidFill>
                <a:latin typeface="Menlo"/>
              </a:rPr>
              <a:t>Phase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5349239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E9EEF5"/>
                </a:solidFill>
                <a:latin typeface="PingFang SC"/>
              </a:rPr>
              <a:t>Lead Merge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5349239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9AA6B2"/>
                </a:solidFill>
                <a:latin typeface="PingFang SC"/>
              </a:rPr>
              <a:t>产出 report.md + report.html + versions/v{n}.{md,html}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09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MBA · Metric Brand Auditor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7A4D"/>
                </a:solidFill>
                <a:latin typeface="Menlo"/>
              </a:rPr>
              <a:t>ARCHITECTURE · SCORING GRID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548640" cy="54864"/>
          </a:xfrm>
          <a:prstGeom prst="rect">
            <a:avLst/>
          </a:prstGeom>
          <a:solidFill>
            <a:srgbClr val="F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E9EEF5"/>
                </a:solidFill>
                <a:latin typeface="PingFang SC"/>
              </a:rPr>
              <a:t>评分坐标系：7 维度 × 5 镜头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7A4D"/>
                </a:solidFill>
                <a:latin typeface="Menlo"/>
              </a:rPr>
              <a:t>7 个调研维度（子 agent 跑的横向）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E9EEF5"/>
                </a:solidFill>
                <a:latin typeface="PingFang SC"/>
              </a:rPr>
              <a:t>1. 创始 &amp; 起源叙事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E9EEF5"/>
                </a:solidFill>
                <a:latin typeface="PingFang SC"/>
              </a:rPr>
              <a:t>2. 产品 &amp; 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E9EEF5"/>
                </a:solidFill>
                <a:latin typeface="PingFang SC"/>
              </a:rPr>
              <a:t>3. 分发 &amp; 渠道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E9EEF5"/>
                </a:solidFill>
                <a:latin typeface="PingFang SC"/>
              </a:rPr>
              <a:t>4. 社区 &amp; PR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E9EEF5"/>
                </a:solidFill>
                <a:latin typeface="PingFang SC"/>
              </a:rPr>
              <a:t>5. 视觉 &amp; 语言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E9EEF5"/>
                </a:solidFill>
                <a:latin typeface="PingFang SC"/>
              </a:rPr>
              <a:t>6. 竞品 &amp; 格局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120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E9EEF5"/>
                </a:solidFill>
                <a:latin typeface="PingFang SC"/>
              </a:rPr>
              <a:t>7. 接收 &amp; 情绪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7E8A4"/>
                </a:solidFill>
                <a:latin typeface="Menlo"/>
              </a:rPr>
              <a:t>5 个打分镜头（评委的纵向）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6888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67E8A4"/>
                </a:solidFill>
                <a:latin typeface="Menlo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4688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E9EEF5"/>
                </a:solidFill>
                <a:latin typeface="PingFang SC"/>
              </a:rPr>
              <a:t>原创性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4688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6B2"/>
                </a:solidFill>
                <a:latin typeface="PingFang SC"/>
              </a:rPr>
              <a:t>Origin authenticity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0896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67E8A4"/>
                </a:solidFill>
                <a:latin typeface="Menlo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1089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E9EEF5"/>
                </a:solidFill>
                <a:latin typeface="PingFang SC"/>
              </a:rPr>
              <a:t>范畴命名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1089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6B2"/>
                </a:solidFill>
                <a:latin typeface="PingFang SC"/>
              </a:rPr>
              <a:t>Category coinage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749039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67E8A4"/>
                </a:solidFill>
                <a:latin typeface="Menlo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749039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E9EEF5"/>
                </a:solidFill>
                <a:latin typeface="PingFang SC"/>
              </a:rPr>
              <a:t>杠杆质量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749039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6B2"/>
                </a:solidFill>
                <a:latin typeface="PingFang SC"/>
              </a:rPr>
              <a:t>Leverage quality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38912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67E8A4"/>
                </a:solidFill>
                <a:latin typeface="Menlo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3891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E9EEF5"/>
                </a:solidFill>
                <a:latin typeface="PingFang SC"/>
              </a:rPr>
              <a:t>身份一致性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3891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6B2"/>
                </a:solidFill>
                <a:latin typeface="PingFang SC"/>
              </a:rPr>
              <a:t>Identity coherence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02920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67E8A4"/>
                </a:solidFill>
                <a:latin typeface="Menlo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0292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E9EEF5"/>
                </a:solidFill>
                <a:latin typeface="PingFang SC"/>
              </a:rPr>
              <a:t>真实信号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50292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6B2"/>
                </a:solidFill>
                <a:latin typeface="PingFang SC"/>
              </a:rPr>
              <a:t>Real-world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9AA6B2"/>
                </a:solidFill>
                <a:latin typeface="Menlo"/>
              </a:rPr>
              <a:t>维度是「调研的输入」，镜头是「评委的尺子」 — 通过 _raw/synthesis.md 耦合。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10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MBA · Metric Brand Auditor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7A4D"/>
                </a:solidFill>
                <a:latin typeface="Menlo"/>
              </a:rPr>
              <a:t>ARCHITECTURE · REPO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548640" cy="54864"/>
          </a:xfrm>
          <a:prstGeom prst="rect">
            <a:avLst/>
          </a:prstGeom>
          <a:solidFill>
            <a:srgbClr val="F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E9EEF5"/>
                </a:solidFill>
                <a:latin typeface="PingFang SC"/>
              </a:rPr>
              <a:t>仓库 4 层架构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11247120" cy="4023360"/>
          </a:xfrm>
          <a:prstGeom prst="rect">
            <a:avLst/>
          </a:prstGeom>
          <a:solidFill>
            <a:srgbClr val="0A0C10"/>
          </a:solidFill>
          <a:ln w="6350">
            <a:solidFill>
              <a:srgbClr val="1F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1078992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mba/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├── metric-brand-auditor/    ← 编排层：流水线主 SKILL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│   ├── SKILL.md                  Lead 工作手册（Phase 0–5，~600 行）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│   ├── references/               维度模板 / 评委模板 / 云浏览器规范 / HTML 脚手架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│   └── reports/&lt;brand&gt;/          每个品牌一个目录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│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├── research/                ← 工具层：PRD 多代理深度调研 skill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│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├── *-perspective/           ← 评委层：5 套人物视角 skill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│   └── fusheng · jobs · likejia · wu-jundong · zhang-yiming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│       每套 = SKILL.md + references/research/01–06.md + scripts/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│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└── wuying_open.py           ← 基建层：阿里云无影 AgentBay 云浏览器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9AA6B2"/>
                </a:solidFill>
                <a:latin typeface="Menlo"/>
              </a:rPr>
              <a:t>每一层对应流水线一个阶段，且可独立调用（research / perspective 都能单独 / 调）。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11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MBA · Metric Brand Auditor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7A4D"/>
                </a:solidFill>
                <a:latin typeface="Menlo"/>
              </a:rPr>
              <a:t>ARCHITECTURE · JUDGES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548640" cy="54864"/>
          </a:xfrm>
          <a:prstGeom prst="rect">
            <a:avLst/>
          </a:prstGeom>
          <a:solidFill>
            <a:srgbClr val="F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E9EEF5"/>
                </a:solidFill>
                <a:latin typeface="PingFang SC"/>
              </a:rPr>
              <a:t>5 位人物评委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2157984" cy="3749039"/>
          </a:xfrm>
          <a:prstGeom prst="rect">
            <a:avLst/>
          </a:prstGeom>
          <a:solidFill>
            <a:srgbClr val="14181E"/>
          </a:solidFill>
          <a:ln w="6350">
            <a:solidFill>
              <a:srgbClr val="1F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傅盛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94560"/>
            <a:ext cx="1609344" cy="1737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069080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E9EEF5"/>
                </a:solidFill>
                <a:latin typeface="PingFang SC"/>
              </a:rPr>
              <a:t>傅盛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26280"/>
            <a:ext cx="21579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FF7A4D"/>
                </a:solidFill>
                <a:latin typeface="Menlo"/>
              </a:rPr>
              <a:t>猎豹 / OpenClaw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7922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9AA6B2"/>
                </a:solidFill>
                <a:latin typeface="PingFang SC"/>
              </a:rPr>
              <a:t>AI 应用为王 + 战略三板斧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06624" y="1920240"/>
            <a:ext cx="2157984" cy="3749039"/>
          </a:xfrm>
          <a:prstGeom prst="rect">
            <a:avLst/>
          </a:prstGeom>
          <a:solidFill>
            <a:srgbClr val="14181E"/>
          </a:solidFill>
          <a:ln w="6350">
            <a:solidFill>
              <a:srgbClr val="1F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job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944" y="2194560"/>
            <a:ext cx="1609344" cy="1737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706624" y="4069080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E9EEF5"/>
                </a:solidFill>
                <a:latin typeface="PingFang SC"/>
              </a:rPr>
              <a:t>Steve Jobs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6624" y="4526280"/>
            <a:ext cx="21579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FF7A4D"/>
                </a:solidFill>
                <a:latin typeface="Menlo"/>
              </a:rPr>
              <a:t>Apple / NeXT / Pixar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9504" y="4937760"/>
            <a:ext cx="17922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9AA6B2"/>
                </a:solidFill>
                <a:latin typeface="PingFang SC"/>
              </a:rPr>
              <a:t>Liberal Arts × Tech · focus = 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56048" y="1920240"/>
            <a:ext cx="2157984" cy="3749039"/>
          </a:xfrm>
          <a:prstGeom prst="rect">
            <a:avLst/>
          </a:prstGeom>
          <a:solidFill>
            <a:srgbClr val="14181E"/>
          </a:solidFill>
          <a:ln w="6350">
            <a:solidFill>
              <a:srgbClr val="1F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李可佳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2194560"/>
            <a:ext cx="1609344" cy="17373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956048" y="4069080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E9EEF5"/>
                </a:solidFill>
                <a:latin typeface="PingFang SC"/>
              </a:rPr>
              <a:t>李可佳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4526280"/>
            <a:ext cx="21579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FF7A4D"/>
                </a:solidFill>
                <a:latin typeface="Menlo"/>
              </a:rPr>
              <a:t>BotLearn / Aibrary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8928" y="4937760"/>
            <a:ext cx="17922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9AA6B2"/>
                </a:solidFill>
                <a:latin typeface="PingFang SC"/>
              </a:rPr>
              <a:t>协议位 + 新物种命名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1920240"/>
            <a:ext cx="2157984" cy="3749039"/>
          </a:xfrm>
          <a:prstGeom prst="rect">
            <a:avLst/>
          </a:prstGeom>
          <a:solidFill>
            <a:srgbClr val="14181E"/>
          </a:solidFill>
          <a:ln w="6350">
            <a:solidFill>
              <a:srgbClr val="1F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吴俊东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9792" y="2194560"/>
            <a:ext cx="1609344" cy="17373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05472" y="4069080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E9EEF5"/>
                </a:solidFill>
                <a:latin typeface="PingFang SC"/>
              </a:rPr>
              <a:t>吴俊东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4526280"/>
            <a:ext cx="21579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FF7A4D"/>
                </a:solidFill>
                <a:latin typeface="Menlo"/>
              </a:rPr>
              <a:t>Aibrary 联创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8352" y="4937760"/>
            <a:ext cx="17922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9AA6B2"/>
                </a:solidFill>
                <a:latin typeface="PingFang SC"/>
              </a:rPr>
              <a:t>教育本质 + 长期关系投资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54896" y="1920240"/>
            <a:ext cx="2157984" cy="3749039"/>
          </a:xfrm>
          <a:prstGeom prst="rect">
            <a:avLst/>
          </a:prstGeom>
          <a:solidFill>
            <a:srgbClr val="14181E"/>
          </a:solidFill>
          <a:ln w="6350">
            <a:solidFill>
              <a:srgbClr val="1F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张一鸣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9216" y="2194560"/>
            <a:ext cx="1609344" cy="17373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454896" y="4069080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E9EEF5"/>
                </a:solidFill>
                <a:latin typeface="PingFang SC"/>
              </a:rPr>
              <a:t>张一鸣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54896" y="4526280"/>
            <a:ext cx="21579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FF7A4D"/>
                </a:solidFill>
                <a:latin typeface="Menlo"/>
              </a:rPr>
              <a:t>字节跳动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4937760"/>
            <a:ext cx="17922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9AA6B2"/>
                </a:solidFill>
                <a:latin typeface="PingFang SC"/>
              </a:rPr>
              <a:t>Context not Control · 火星视角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9AA6B2"/>
                </a:solidFill>
                <a:latin typeface="Menlo"/>
              </a:rPr>
              <a:t>每套 skill 基于 80%+ 一手访谈与文章；SKILL.md 顶部明确 anti-fabrication 红线 — 不替本人编造未公开内容。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12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MBA · Metric Brand Auditor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7A4D"/>
                </a:solidFill>
                <a:latin typeface="Menlo"/>
              </a:rPr>
              <a:t>ARCHITECTURE · OUTPUTS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548640" cy="54864"/>
          </a:xfrm>
          <a:prstGeom prst="rect">
            <a:avLst/>
          </a:prstGeom>
          <a:solidFill>
            <a:srgbClr val="F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E9EEF5"/>
                </a:solidFill>
                <a:latin typeface="PingFang SC"/>
              </a:rPr>
              <a:t>每次运行产出 5 类文件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9AA6B2"/>
                </a:solidFill>
                <a:latin typeface="Menlo"/>
              </a:rPr>
              <a:t>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9AA6B2"/>
                </a:solidFill>
                <a:latin typeface="Menlo"/>
              </a:rPr>
              <a:t>作用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2697480"/>
            <a:ext cx="11247120" cy="0"/>
          </a:xfrm>
          <a:prstGeom prst="line">
            <a:avLst/>
          </a:prstGeom>
          <a:ln w="9525">
            <a:solidFill>
              <a:srgbClr val="1F26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274320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67E8A4"/>
                </a:solidFill>
                <a:latin typeface="PingFang SC"/>
              </a:rPr>
              <a:t>report.md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当前 canonical Markdown 报告（滚动覆盖）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3337560"/>
            <a:ext cx="11247120" cy="0"/>
          </a:xfrm>
          <a:prstGeom prst="line">
            <a:avLst/>
          </a:prstGeom>
          <a:ln w="3175">
            <a:solidFill>
              <a:srgbClr val="1F26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338328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67E8A4"/>
                </a:solidFill>
                <a:latin typeface="PingFang SC"/>
              </a:rPr>
              <a:t>report.html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83280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自包含 HTML：Chart.js 雷达 + 异议热力图 + Mermaid 流程图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" y="3977640"/>
            <a:ext cx="11247120" cy="0"/>
          </a:xfrm>
          <a:prstGeom prst="line">
            <a:avLst/>
          </a:prstGeom>
          <a:ln w="3175">
            <a:solidFill>
              <a:srgbClr val="1F26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402336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67E8A4"/>
                </a:solidFill>
                <a:latin typeface="PingFang SC"/>
              </a:rPr>
              <a:t>versions/v{n}_{date}.{md,html}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023360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每次 evolution 的不可变快照（时间序列）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4617720"/>
            <a:ext cx="11247120" cy="0"/>
          </a:xfrm>
          <a:prstGeom prst="line">
            <a:avLst/>
          </a:prstGeom>
          <a:ln w="3175">
            <a:solidFill>
              <a:srgbClr val="1F26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466344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67E8A4"/>
                </a:solidFill>
                <a:latin typeface="PingFang SC"/>
              </a:rPr>
              <a:t>reviews/&lt;judge&gt;.md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663440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5 位评委的独立打分卡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" y="5257800"/>
            <a:ext cx="11247120" cy="0"/>
          </a:xfrm>
          <a:prstGeom prst="line">
            <a:avLst/>
          </a:prstGeom>
          <a:ln w="3175">
            <a:solidFill>
              <a:srgbClr val="1F26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530352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67E8A4"/>
                </a:solidFill>
                <a:latin typeface="PingFang SC"/>
              </a:rPr>
              <a:t>_raw/dimension_n_*.md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303520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每个维度子 agent 的原始输出（可审计）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F7A4D"/>
                </a:solidFill>
                <a:latin typeface="Menlo"/>
              </a:rPr>
              <a:t>SECTION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>
                <a:solidFill>
                  <a:srgbClr val="E9EEF5"/>
                </a:solidFill>
                <a:latin typeface="PingFang SC"/>
              </a:rPr>
              <a:t>程序如何开发的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9768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>
                <a:solidFill>
                  <a:srgbClr val="9AA6B2"/>
                </a:solidFill>
                <a:latin typeface="PingFang SC"/>
              </a:rPr>
              <a:t>Skill-based · multi-agent · 80% primary sources · governance built-in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731520" cy="54864"/>
          </a:xfrm>
          <a:prstGeom prst="rect">
            <a:avLst/>
          </a:prstGeom>
          <a:solidFill>
            <a:srgbClr val="F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14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MBA · Metric Brand Auditor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7A4D"/>
                </a:solidFill>
                <a:latin typeface="Menlo"/>
              </a:rPr>
              <a:t>BUILD · 开发哲学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548640" cy="54864"/>
          </a:xfrm>
          <a:prstGeom prst="rect">
            <a:avLst/>
          </a:prstGeom>
          <a:solidFill>
            <a:srgbClr val="F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E9EEF5"/>
                </a:solidFill>
                <a:latin typeface="PingFang SC"/>
              </a:rPr>
              <a:t>三条不可妥协的开发原则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11247120" cy="1371600"/>
          </a:xfrm>
          <a:prstGeom prst="rect">
            <a:avLst/>
          </a:prstGeom>
          <a:solidFill>
            <a:srgbClr val="14181E"/>
          </a:solidFill>
          <a:ln w="6350">
            <a:solidFill>
              <a:srgbClr val="1F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7A4D"/>
                </a:solidFill>
                <a:latin typeface="Menl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945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E9EEF5"/>
                </a:solidFill>
                <a:latin typeface="PingFang SC"/>
              </a:rPr>
              <a:t>Skill, not 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97480"/>
            <a:ext cx="9418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9AA6B2"/>
                </a:solidFill>
                <a:latin typeface="PingFang SC"/>
              </a:rPr>
              <a:t>每一层都是 Claude Code skill — SKILL.md 是工作手册，子 agent 通过 SKILL 加载世界观。可以独立调用、可以彼此 LOAD。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20440"/>
            <a:ext cx="11247120" cy="1371600"/>
          </a:xfrm>
          <a:prstGeom prst="rect">
            <a:avLst/>
          </a:prstGeom>
          <a:solidFill>
            <a:srgbClr val="14181E"/>
          </a:solidFill>
          <a:ln w="6350">
            <a:solidFill>
              <a:srgbClr val="1F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7A4D"/>
                </a:solidFill>
                <a:latin typeface="Menl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7033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E9EEF5"/>
                </a:solidFill>
                <a:latin typeface="PingFang SC"/>
              </a:rPr>
              <a:t>并行 over 串行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206240"/>
            <a:ext cx="9418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9AA6B2"/>
                </a:solidFill>
                <a:latin typeface="PingFang SC"/>
              </a:rPr>
              <a:t>Phase 2 一条消息派发 N 个 sub-agent，Phase 4 一条消息派发 5 评委。Lead 不读中间结果，只合成最终 _raw/。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solidFill>
            <a:srgbClr val="14181E"/>
          </a:solidFill>
          <a:ln w="6350">
            <a:solidFill>
              <a:srgbClr val="1F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2120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7A4D"/>
                </a:solidFill>
                <a:latin typeface="Menl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2120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E9EEF5"/>
                </a:solidFill>
                <a:latin typeface="PingFang SC"/>
              </a:rPr>
              <a:t>一手 over 二手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715000"/>
            <a:ext cx="9418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9AA6B2"/>
                </a:solidFill>
                <a:latin typeface="PingFang SC"/>
              </a:rPr>
              <a:t>5 套 perspective 的 references/research/01–06.md 80%+ 是一手访谈 / 文章 / 播客 transcript，附 anti-fabrication 红线。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15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MBA · Metric Brand Auditor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7A4D"/>
                </a:solidFill>
                <a:latin typeface="Menlo"/>
              </a:rPr>
              <a:t>BUILD · PERSPECTIVE DNA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548640" cy="54864"/>
          </a:xfrm>
          <a:prstGeom prst="rect">
            <a:avLst/>
          </a:prstGeom>
          <a:solidFill>
            <a:srgbClr val="F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E9EEF5"/>
                </a:solidFill>
                <a:latin typeface="PingFang SC"/>
              </a:rPr>
              <a:t>一套 perspective skill 是怎么炼成的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7A4D"/>
                </a:solidFill>
                <a:latin typeface="Menlo"/>
              </a:rPr>
              <a:t>6 路并行调研（research skill 自调用）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9EEF5"/>
                </a:solidFill>
                <a:latin typeface="Menlo"/>
              </a:rPr>
              <a:t>01-writings.md         本人公开文章 / 长文 / 博客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9EEF5"/>
                </a:solidFill>
                <a:latin typeface="Menlo"/>
              </a:rPr>
              <a:t>02-conversations.md    访谈 / 播客 transcript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9EEF5"/>
                </a:solidFill>
                <a:latin typeface="Menlo"/>
              </a:rPr>
              <a:t>03-expression-dna.md   口头禅 / 表达风格 / 反共识陈述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9EEF5"/>
                </a:solidFill>
                <a:latin typeface="Menlo"/>
              </a:rPr>
              <a:t>04-external-views.md   外部评价 / 媒体侧写 / 同行视角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69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9EEF5"/>
                </a:solidFill>
                <a:latin typeface="Menlo"/>
              </a:rPr>
              <a:t>05-decisions.md        重大决策史 / 转折点 / 公开反思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80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9EEF5"/>
                </a:solidFill>
                <a:latin typeface="Menlo"/>
              </a:rPr>
              <a:t>06-timeline.md         身份切换轨迹 / 关键时间线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7E8A4"/>
                </a:solidFill>
                <a:latin typeface="Menlo"/>
              </a:rPr>
              <a:t>落到 SKILL.md 后包含 4 件事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231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9EEF5"/>
                </a:solidFill>
                <a:latin typeface="PingFang SC"/>
              </a:rPr>
              <a:t>Frontmatter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432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9AA6B2"/>
                </a:solidFill>
                <a:latin typeface="PingFang SC"/>
              </a:rPr>
              <a:t>name · description · 显式 / 主题型触发规则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004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9EEF5"/>
                </a:solidFill>
                <a:latin typeface="PingFang SC"/>
              </a:rPr>
              <a:t>Mental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5204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9AA6B2"/>
                </a:solidFill>
                <a:latin typeface="PingFang SC"/>
              </a:rPr>
              <a:t>5–6 个核心心智模型（如「协议位」「赛马机制」）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7763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9EEF5"/>
                </a:solidFill>
                <a:latin typeface="PingFang SC"/>
              </a:rPr>
              <a:t>Decision heuristics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97679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9AA6B2"/>
                </a:solidFill>
                <a:latin typeface="PingFang SC"/>
              </a:rPr>
              <a:t>8–10 条决策启发式 + 反共识陈述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75487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9EEF5"/>
                </a:solidFill>
                <a:latin typeface="PingFang SC"/>
              </a:rPr>
              <a:t>Anti-fabrication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074919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9AA6B2"/>
                </a:solidFill>
                <a:latin typeface="PingFang SC"/>
              </a:rPr>
              <a:t>哪些话题留白 / 不替本人编造 / 与兄弟 skill 的路由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16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MBA · Metric Brand Auditor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7A4D"/>
                </a:solidFill>
                <a:latin typeface="Menlo"/>
              </a:rPr>
              <a:t>BUILD · 多 AGENT 调度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548640" cy="54864"/>
          </a:xfrm>
          <a:prstGeom prst="rect">
            <a:avLst/>
          </a:prstGeom>
          <a:solidFill>
            <a:srgbClr val="F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E9EEF5"/>
                </a:solidFill>
                <a:latin typeface="PingFang SC"/>
              </a:rPr>
              <a:t>Lead → sub-agent → judge 的协作循环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11247120" cy="4206240"/>
          </a:xfrm>
          <a:prstGeom prst="rect">
            <a:avLst/>
          </a:prstGeom>
          <a:solidFill>
            <a:srgbClr val="0A0C10"/>
          </a:solidFill>
          <a:ln w="6350">
            <a:solidFill>
              <a:srgbClr val="1F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1078992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# Phase 2 — 并行调研（伪代码）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for dim in active_dimensions:                    # 7 维度中用户确认的子集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    spawn_subagent(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        type="general-purpose",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        prompt=dimensions[dim].prompt_template,   # 来自 references/dimensions.md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        output=f"_raw/dimension_{dim}.md",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    )                                             # 一条消息发起所有 sub-agent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# Phase 4 — 并行打分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for judge in ["fusheng", "jobs", "likejia", "wu-jundong", "zhang-yiming"]: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    spawn_subagent(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        load_skill=f"{judge}-perspective",         # 加载该评委的世界观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        prompt=judge_prompt_template.format(synthesis_path="_raw/synthesis.md"),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        output=f"reviews/{judge}.md",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    )                                             # 5 评委互不可见，独立打分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17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MBA · Metric Brand Auditor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7A4D"/>
                </a:solidFill>
                <a:latin typeface="Menlo"/>
              </a:rPr>
              <a:t>BUILD · 治理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548640" cy="54864"/>
          </a:xfrm>
          <a:prstGeom prst="rect">
            <a:avLst/>
          </a:prstGeom>
          <a:solidFill>
            <a:srgbClr val="F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E9EEF5"/>
                </a:solidFill>
                <a:latin typeface="PingFang SC"/>
              </a:rPr>
              <a:t>可治理输出：Anti-fabrication 红线写在 SKILL 顶部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12471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75000"/>
              </a:lnSpc>
            </a:pPr>
            <a:r>
              <a:rPr sz="1800" b="1">
                <a:solidFill>
                  <a:srgbClr val="FF7A4D"/>
                </a:solidFill>
                <a:latin typeface="Menlo"/>
              </a:rPr>
              <a:t>•  </a:t>
            </a:r>
            <a:r>
              <a:rPr sz="1800">
                <a:solidFill>
                  <a:srgbClr val="E9EEF5"/>
                </a:solidFill>
                <a:latin typeface="PingFang SC"/>
              </a:rPr>
              <a:t>评委对自己留白的话题（家庭、未公开决策细节）保持沉默</a:t>
            </a:r>
          </a:p>
          <a:p>
            <a:pPr>
              <a:lnSpc>
                <a:spcPct val="175000"/>
              </a:lnSpc>
            </a:pPr>
            <a:r>
              <a:rPr sz="1800" b="1">
                <a:solidFill>
                  <a:srgbClr val="FF7A4D"/>
                </a:solidFill>
                <a:latin typeface="Menlo"/>
              </a:rPr>
              <a:t>•  </a:t>
            </a:r>
            <a:r>
              <a:rPr sz="1800">
                <a:solidFill>
                  <a:srgbClr val="E9EEF5"/>
                </a:solidFill>
                <a:latin typeface="PingFang SC"/>
              </a:rPr>
              <a:t>5 套 perspective 都基于公开一手资料 — 访谈、文章、播客 transcript</a:t>
            </a:r>
          </a:p>
          <a:p>
            <a:pPr>
              <a:lnSpc>
                <a:spcPct val="175000"/>
              </a:lnSpc>
            </a:pPr>
            <a:r>
              <a:rPr sz="1800" b="1">
                <a:solidFill>
                  <a:srgbClr val="FF7A4D"/>
                </a:solidFill>
                <a:latin typeface="Menlo"/>
              </a:rPr>
              <a:t>•  </a:t>
            </a:r>
            <a:r>
              <a:rPr sz="1800">
                <a:solidFill>
                  <a:srgbClr val="E9EEF5"/>
                </a:solidFill>
                <a:latin typeface="PingFang SC"/>
              </a:rPr>
              <a:t>网站明确声明：评委头像、评分、辩论是 AI 模拟，不代表本人真实意见</a:t>
            </a:r>
          </a:p>
          <a:p>
            <a:pPr>
              <a:lnSpc>
                <a:spcPct val="175000"/>
              </a:lnSpc>
            </a:pPr>
            <a:r>
              <a:rPr sz="1800" b="1">
                <a:solidFill>
                  <a:srgbClr val="FF7A4D"/>
                </a:solidFill>
                <a:latin typeface="Menlo"/>
              </a:rPr>
              <a:t>•  </a:t>
            </a:r>
            <a:r>
              <a:rPr sz="1800">
                <a:solidFill>
                  <a:srgbClr val="E9EEF5"/>
                </a:solidFill>
                <a:latin typeface="PingFang SC"/>
              </a:rPr>
              <a:t>不构成投资建议或真实品牌评价 — 演示用途，治理边界外置</a:t>
            </a:r>
          </a:p>
          <a:p>
            <a:pPr>
              <a:lnSpc>
                <a:spcPct val="175000"/>
              </a:lnSpc>
            </a:pPr>
            <a:r>
              <a:rPr sz="1800" b="1">
                <a:solidFill>
                  <a:srgbClr val="FF7A4D"/>
                </a:solidFill>
                <a:latin typeface="Menlo"/>
              </a:rPr>
              <a:t>•  </a:t>
            </a:r>
            <a:r>
              <a:rPr sz="1800">
                <a:solidFill>
                  <a:srgbClr val="E9EEF5"/>
                </a:solidFill>
                <a:latin typeface="PingFang SC"/>
              </a:rPr>
              <a:t>商业化版本会去掉真人模拟风险 → 升级为 Investor / Founder / Product / Category / Distribution / Culture Lens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F7A4D"/>
                </a:solidFill>
                <a:latin typeface="Menlo"/>
              </a:rPr>
              <a:t>SECTION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>
                <a:solidFill>
                  <a:srgbClr val="E9EEF5"/>
                </a:solidFill>
                <a:latin typeface="PingFang SC"/>
              </a:rPr>
              <a:t>样例报告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9768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>
                <a:solidFill>
                  <a:srgbClr val="9AA6B2"/>
                </a:solidFill>
                <a:latin typeface="PingFang SC"/>
              </a:rPr>
              <a:t>Lenovo 0992.HK · 22.0/50 · 5 judges, σ ≤ 0.63 = 高度共识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731520" cy="54864"/>
          </a:xfrm>
          <a:prstGeom prst="rect">
            <a:avLst/>
          </a:prstGeom>
          <a:solidFill>
            <a:srgbClr val="F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19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MBA · Metric Brand Auditor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7A4D"/>
                </a:solidFill>
                <a:latin typeface="Menlo"/>
              </a:rPr>
              <a:t>SAMPLE · LENOVO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548640" cy="54864"/>
          </a:xfrm>
          <a:prstGeom prst="rect">
            <a:avLst/>
          </a:prstGeom>
          <a:solidFill>
            <a:srgbClr val="F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E9EEF5"/>
                </a:solidFill>
                <a:latin typeface="PingFang SC"/>
              </a:rPr>
              <a:t>Lenovo 0992.HK · 实际报告长这样</a:t>
            </a:r>
          </a:p>
        </p:txBody>
      </p:sp>
      <p:pic>
        <p:nvPicPr>
          <p:cNvPr id="7" name="Picture 6" descr="report-leno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7772400" cy="12954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3920" y="2011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FF7A4D"/>
                </a:solidFill>
                <a:latin typeface="Menlo"/>
              </a:rPr>
              <a:t>报告含 5 类组件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468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9EEF5"/>
                </a:solidFill>
                <a:latin typeface="PingFang SC"/>
              </a:rPr>
              <a:t>雷达图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7432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AA6B2"/>
                </a:solidFill>
                <a:latin typeface="PingFang SC"/>
              </a:rPr>
              <a:t>5 镜头评分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017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9EEF5"/>
                </a:solidFill>
                <a:latin typeface="PingFang SC"/>
              </a:rPr>
              <a:t>异议热力图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2918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AA6B2"/>
                </a:solidFill>
                <a:latin typeface="PingFang SC"/>
              </a:rPr>
              <a:t>5 评委 × 5 镜头 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566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9EEF5"/>
                </a:solidFill>
                <a:latin typeface="PingFang SC"/>
              </a:rPr>
              <a:t>Mermaid 流程图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8404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AA6B2"/>
                </a:solidFill>
                <a:latin typeface="PingFang SC"/>
              </a:rPr>
              <a:t>杠杆 → 哪里来 / 流到哪里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114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9EEF5"/>
                </a:solidFill>
                <a:latin typeface="PingFang SC"/>
              </a:rPr>
              <a:t>执行摘要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389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AA6B2"/>
                </a:solidFill>
                <a:latin typeface="PingFang SC"/>
              </a:rPr>
              <a:t>杠杆 / 脆弱 / 矛盾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6634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9EEF5"/>
                </a:solidFill>
                <a:latin typeface="PingFang SC"/>
              </a:rPr>
              <a:t>90 天建议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9377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AA6B2"/>
                </a:solidFill>
                <a:latin typeface="PingFang SC"/>
              </a:rPr>
              <a:t>可执行 action list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20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MBA · Metric Brand Auditor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7A4D"/>
                </a:solidFill>
                <a:latin typeface="Menlo"/>
              </a:rPr>
              <a:t>SAMPLE · 评分矩阵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548640" cy="54864"/>
          </a:xfrm>
          <a:prstGeom prst="rect">
            <a:avLst/>
          </a:prstGeom>
          <a:solidFill>
            <a:srgbClr val="F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E9EEF5"/>
                </a:solidFill>
                <a:latin typeface="PingFang SC"/>
              </a:rPr>
              <a:t>5 评委 × 5 镜头评分矩阵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301752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9AA6B2"/>
                </a:solidFill>
                <a:latin typeface="Menlo"/>
              </a:rPr>
              <a:t>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011680"/>
            <a:ext cx="100584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9AA6B2"/>
                </a:solidFill>
                <a:latin typeface="Menlo"/>
              </a:rPr>
              <a:t>🐆 傅盛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011680"/>
            <a:ext cx="100584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9AA6B2"/>
                </a:solidFill>
                <a:latin typeface="Menlo"/>
              </a:rPr>
              <a:t>🍎 Jobs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011680"/>
            <a:ext cx="109728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9AA6B2"/>
                </a:solidFill>
                <a:latin typeface="Menlo"/>
              </a:rPr>
              <a:t>🦞 李可佳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109728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9AA6B2"/>
                </a:solidFill>
                <a:latin typeface="Menlo"/>
              </a:rPr>
              <a:t>📚 吴俊东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011680"/>
            <a:ext cx="128016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9AA6B2"/>
                </a:solidFill>
                <a:latin typeface="Menlo"/>
              </a:rPr>
              <a:t>🐘 张一鸣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011680"/>
            <a:ext cx="137160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9AA6B2"/>
                </a:solidFill>
                <a:latin typeface="Menlo"/>
              </a:rPr>
              <a:t>Mean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2011680"/>
            <a:ext cx="137160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9AA6B2"/>
                </a:solidFill>
                <a:latin typeface="Menlo"/>
              </a:rPr>
              <a:t>σ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" y="2462348"/>
            <a:ext cx="11247120" cy="0"/>
          </a:xfrm>
          <a:prstGeom prst="line">
            <a:avLst/>
          </a:prstGeom>
          <a:ln w="9525">
            <a:solidFill>
              <a:srgbClr val="1F26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2508068"/>
            <a:ext cx="301752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Origin authenticity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508068"/>
            <a:ext cx="100584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508068"/>
            <a:ext cx="100584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508068"/>
            <a:ext cx="109728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508068"/>
            <a:ext cx="109728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508068"/>
            <a:ext cx="128016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508068"/>
            <a:ext cx="137160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7A4D"/>
                </a:solidFill>
                <a:latin typeface="PingFang SC"/>
              </a:rPr>
              <a:t>6.0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2508068"/>
            <a:ext cx="137160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0.63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2958736"/>
            <a:ext cx="11247120" cy="0"/>
          </a:xfrm>
          <a:prstGeom prst="line">
            <a:avLst/>
          </a:prstGeom>
          <a:ln w="3175">
            <a:solidFill>
              <a:srgbClr val="1F26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3004456"/>
            <a:ext cx="301752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Category coinage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004456"/>
            <a:ext cx="100584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004456"/>
            <a:ext cx="100584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3004456"/>
            <a:ext cx="109728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004456"/>
            <a:ext cx="109728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3004456"/>
            <a:ext cx="128016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004456"/>
            <a:ext cx="137160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1C453"/>
                </a:solidFill>
                <a:latin typeface="PingFang SC"/>
              </a:rPr>
              <a:t>2.8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3004456"/>
            <a:ext cx="137160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0.40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7200" y="3455124"/>
            <a:ext cx="11247120" cy="0"/>
          </a:xfrm>
          <a:prstGeom prst="line">
            <a:avLst/>
          </a:prstGeom>
          <a:ln w="3175">
            <a:solidFill>
              <a:srgbClr val="1F26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57200" y="3500844"/>
            <a:ext cx="301752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Leverage quality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3500844"/>
            <a:ext cx="100584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3500844"/>
            <a:ext cx="100584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3500844"/>
            <a:ext cx="109728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3500844"/>
            <a:ext cx="109728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3500844"/>
            <a:ext cx="128016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3500844"/>
            <a:ext cx="137160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7A4D"/>
                </a:solidFill>
                <a:latin typeface="PingFang SC"/>
              </a:rPr>
              <a:t>5.0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3500844"/>
            <a:ext cx="137160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0.63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57200" y="3951512"/>
            <a:ext cx="11247120" cy="0"/>
          </a:xfrm>
          <a:prstGeom prst="line">
            <a:avLst/>
          </a:prstGeom>
          <a:ln w="3175">
            <a:solidFill>
              <a:srgbClr val="1F26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57200" y="3997232"/>
            <a:ext cx="301752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Identity coherence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3997232"/>
            <a:ext cx="100584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3997232"/>
            <a:ext cx="100584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3997232"/>
            <a:ext cx="109728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3997232"/>
            <a:ext cx="109728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3997232"/>
            <a:ext cx="128016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0" y="3997232"/>
            <a:ext cx="137160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1C453"/>
                </a:solidFill>
                <a:latin typeface="PingFang SC"/>
              </a:rPr>
              <a:t>3.2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2720" y="3997232"/>
            <a:ext cx="137160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0.40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57200" y="4447900"/>
            <a:ext cx="11247120" cy="0"/>
          </a:xfrm>
          <a:prstGeom prst="line">
            <a:avLst/>
          </a:prstGeom>
          <a:ln w="3175">
            <a:solidFill>
              <a:srgbClr val="1F26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57200" y="4493620"/>
            <a:ext cx="301752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Real-world signal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74720" y="4493620"/>
            <a:ext cx="100584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60" y="4493620"/>
            <a:ext cx="100584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0" y="4493620"/>
            <a:ext cx="109728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4493620"/>
            <a:ext cx="109728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80960" y="4493620"/>
            <a:ext cx="128016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61120" y="4493620"/>
            <a:ext cx="137160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7A4D"/>
                </a:solidFill>
                <a:latin typeface="PingFang SC"/>
              </a:rPr>
              <a:t>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32720" y="4493620"/>
            <a:ext cx="137160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0.63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457200" y="4944288"/>
            <a:ext cx="11247120" cy="0"/>
          </a:xfrm>
          <a:prstGeom prst="line">
            <a:avLst/>
          </a:prstGeom>
          <a:ln w="3175">
            <a:solidFill>
              <a:srgbClr val="1F26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457200" y="4990008"/>
            <a:ext cx="301752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E9EEF5"/>
                </a:solidFill>
                <a:latin typeface="PingFang SC"/>
              </a:rPr>
              <a:t>Total /50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74720" y="4990008"/>
            <a:ext cx="100584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E9EEF5"/>
                </a:solidFill>
                <a:latin typeface="PingFang SC"/>
              </a:rPr>
              <a:t>23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80560" y="4990008"/>
            <a:ext cx="100584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E9EEF5"/>
                </a:solidFill>
                <a:latin typeface="PingFang SC"/>
              </a:rPr>
              <a:t>23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0" y="4990008"/>
            <a:ext cx="109728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E9EEF5"/>
                </a:solidFill>
                <a:latin typeface="PingFang SC"/>
              </a:rPr>
              <a:t>19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0" y="4990008"/>
            <a:ext cx="109728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E9EEF5"/>
                </a:solidFill>
                <a:latin typeface="PingFang SC"/>
              </a:rPr>
              <a:t>21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80960" y="4990008"/>
            <a:ext cx="128016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E9EEF5"/>
                </a:solidFill>
                <a:latin typeface="PingFang SC"/>
              </a:rPr>
              <a:t>24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61120" y="4990008"/>
            <a:ext cx="137160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67E8A4"/>
                </a:solidFill>
                <a:latin typeface="PingFang SC"/>
              </a:rPr>
              <a:t>22.0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32720" y="4990008"/>
            <a:ext cx="1371600" cy="496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9AA6B2"/>
                </a:solidFill>
                <a:latin typeface="PingFang SC"/>
              </a:rPr>
              <a:t>1.79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9AA6B2"/>
                </a:solidFill>
                <a:latin typeface="Menlo"/>
              </a:rPr>
              <a:t>σ ≤ 0.63 = 5 评委高度共识 — 分歧不在打分上，而在 Round 2 辩论里浮现的 5 种独立诊断语言。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21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MBA · Metric Brand Auditor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7A4D"/>
                </a:solidFill>
                <a:latin typeface="Menlo"/>
              </a:rPr>
              <a:t>SAMPLE · 核心结论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548640" cy="54864"/>
          </a:xfrm>
          <a:prstGeom prst="rect">
            <a:avLst/>
          </a:prstGeom>
          <a:solidFill>
            <a:srgbClr val="F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E9EEF5"/>
                </a:solidFill>
                <a:latin typeface="PingFang SC"/>
              </a:rPr>
              <a:t>联想审计：4 条结构性结论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7A4D"/>
                </a:solidFill>
                <a:latin typeface="Menl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116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E9EEF5"/>
                </a:solidFill>
                <a:latin typeface="PingFang SC"/>
              </a:rPr>
              <a:t>全球 PC 龙头 + 子品牌资产撑起的渠道机器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423160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9AA6B2"/>
                </a:solidFill>
                <a:latin typeface="PingFang SC"/>
              </a:rPr>
              <a:t>FY24/25 营收 $69.1B · 全球 PC 出货 #1（25.5% 份额，领先 HP 5.7pct）· 承重资产是 ThinkPad（IT 行业仅次于 Apple logo），主品牌只有 2015 年红色矩形。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632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7A4D"/>
                </a:solidFill>
                <a:latin typeface="Menl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6324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E9EEF5"/>
                </a:solidFill>
                <a:latin typeface="PingFang SC"/>
              </a:rPr>
              <a:t>品牌叙事比财务面落后一个时代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474720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9AA6B2"/>
                </a:solidFill>
                <a:latin typeface="PingFang SC"/>
              </a:rPr>
              <a:t>slogan 14 年 4 换没一个撑过 5 年；「AI PC」无 IDC/Gartner traction；「Hybrid AI」借自 Qualcomm 2023 白皮书 — 最大声 evangelist 但不是 term owner。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7A4D"/>
                </a:solidFill>
                <a:latin typeface="Menl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1148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E9EEF5"/>
                </a:solidFill>
                <a:latin typeface="PingFang SC"/>
              </a:rPr>
              <a:t>两边政治定价都为负，但资本市场未折价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526280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9AA6B2"/>
                </a:solidFill>
                <a:latin typeface="PingFang SC"/>
              </a:rPr>
              <a:t>中文舆论质疑「不够中国」，Pentagon J-2 + FY2025 NDAA 质疑「太中国」— 但 19 家券商 16 Buy / 0 Sell，12 月 +30%。资本和舆论脱钩。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66359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7A4D"/>
                </a:solidFill>
                <a:latin typeface="Menlo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166359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E9EEF5"/>
                </a:solidFill>
                <a:latin typeface="PingFang SC"/>
              </a:rPr>
              <a:t>ISG +63% 是搭顺风车，不是赢市场份额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577839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9AA6B2"/>
                </a:solidFill>
                <a:latin typeface="PingFang SC"/>
              </a:rPr>
              <a:t>服务器市场全球同期 +61%，联想份额仍 ~4%（Dell 10% / Supermicro 9.5% / 浪潮 4.1% 真赢家）。「AI PC」定义权在 Microsoft + Intel + Qualcomm。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F7A4D"/>
                </a:solidFill>
                <a:latin typeface="Menlo"/>
              </a:rPr>
              <a:t>SECTION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>
                <a:solidFill>
                  <a:srgbClr val="E9EEF5"/>
                </a:solidFill>
                <a:latin typeface="PingFang SC"/>
              </a:rPr>
              <a:t>怎么使用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9768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>
                <a:solidFill>
                  <a:srgbClr val="9AA6B2"/>
                </a:solidFill>
                <a:latin typeface="PingFang SC"/>
              </a:rPr>
              <a:t>One line. Zero deps. Evolves over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731520" cy="54864"/>
          </a:xfrm>
          <a:prstGeom prst="rect">
            <a:avLst/>
          </a:prstGeom>
          <a:solidFill>
            <a:srgbClr val="F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23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MBA · Metric Brand Auditor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7A4D"/>
                </a:solidFill>
                <a:latin typeface="Menlo"/>
              </a:rPr>
              <a:t>USAGE · 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548640" cy="54864"/>
          </a:xfrm>
          <a:prstGeom prst="rect">
            <a:avLst/>
          </a:prstGeom>
          <a:solidFill>
            <a:srgbClr val="F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E9EEF5"/>
                </a:solidFill>
                <a:latin typeface="PingFang SC"/>
              </a:rPr>
              <a:t>一行命令调用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11247120" cy="3017520"/>
          </a:xfrm>
          <a:prstGeom prst="rect">
            <a:avLst/>
          </a:prstGeom>
          <a:solidFill>
            <a:srgbClr val="0A0C10"/>
          </a:solidFill>
          <a:ln w="6350">
            <a:solidFill>
              <a:srgbClr val="1F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1078992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/mba &lt;brand&gt;                # 标准全流程（自动判断 FRESH / EVOLUTION）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/mba OpenClaw               # 仓库内置 demo case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/mba &lt;brand&gt; --quick        # 跳过云浏览器 leg（只走开放网）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/mba &lt;brand&gt; --refresh      # 强制 EVOLUTION 重跑（已有报告归档到 versions/）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/mba &lt;brand&gt; --no-judges    # 只做合成，跳过 5 评委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/mba &lt;brand&gt; --focus 1,3,7  # 只调研指定维度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D7E3F4"/>
                </a:solidFill>
                <a:latin typeface="Menlo"/>
              </a:rPr>
              <a:t>/mba list                   # 列出已审计品牌 + 各自版本数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solidFill>
            <a:srgbClr val="14181E"/>
          </a:solidFill>
          <a:ln w="6350">
            <a:solidFill>
              <a:srgbClr val="FF7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440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F7A4D"/>
                </a:solidFill>
                <a:latin typeface="Menlo"/>
              </a:rPr>
              <a:t>ZERO-DEP ENTRY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150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Menlo"/>
              </a:rPr>
              <a:t>/mba &lt;brand&gt; --quick --no-judges  ← 装完直接跑，只用 WebSearch + WebFetch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24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MBA · Metric Brand Auditor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7A4D"/>
                </a:solidFill>
                <a:latin typeface="Menlo"/>
              </a:rPr>
              <a:t>USAGE · 两种模式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548640" cy="54864"/>
          </a:xfrm>
          <a:prstGeom prst="rect">
            <a:avLst/>
          </a:prstGeom>
          <a:solidFill>
            <a:srgbClr val="F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E9EEF5"/>
                </a:solidFill>
                <a:latin typeface="PingFang SC"/>
              </a:rPr>
              <a:t>两种模式：第一次跑 vs 后续追踪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5394960" cy="4114800"/>
          </a:xfrm>
          <a:prstGeom prst="rect">
            <a:avLst/>
          </a:prstGeom>
          <a:solidFill>
            <a:srgbClr val="14181E"/>
          </a:solidFill>
          <a:ln w="6350">
            <a:solidFill>
              <a:srgbClr val="1F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FF7A4D"/>
                </a:solidFill>
                <a:latin typeface="Menlo"/>
              </a:rPr>
              <a:t>FRESH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E9EEF5"/>
                </a:solidFill>
                <a:latin typeface="PingFang SC"/>
              </a:rPr>
              <a:t>第一次审计这个品牌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9AA6B2"/>
                </a:solidFill>
                <a:latin typeface="PingFang SC"/>
              </a:rPr>
              <a:t>·  Phase 0 路由器找不到 report.md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03319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9AA6B2"/>
                </a:solidFill>
                <a:latin typeface="PingFang SC"/>
              </a:rPr>
              <a:t>·  Phase 1 起草 PRD，用户确认 7 维度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9AA6B2"/>
                </a:solidFill>
                <a:latin typeface="PingFang SC"/>
              </a:rPr>
              <a:t>·  Phase 2 并行调研所有维度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9AA6B2"/>
                </a:solidFill>
                <a:latin typeface="PingFang SC"/>
              </a:rPr>
              <a:t>·  Phase 3 Lead 合成 synthesis.md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9AA6B2"/>
                </a:solidFill>
                <a:latin typeface="PingFang SC"/>
              </a:rPr>
              <a:t>·  Phase 4 5 评委独立打分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492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9AA6B2"/>
                </a:solidFill>
                <a:latin typeface="PingFang SC"/>
              </a:rPr>
              <a:t>·  Phase 5 输出 v1 + canonical report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011680"/>
            <a:ext cx="5394960" cy="4114800"/>
          </a:xfrm>
          <a:prstGeom prst="rect">
            <a:avLst/>
          </a:prstGeom>
          <a:solidFill>
            <a:srgbClr val="14181E"/>
          </a:solidFill>
          <a:ln w="6350">
            <a:solidFill>
              <a:srgbClr val="67E8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1945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67E8A4"/>
                </a:solidFill>
                <a:latin typeface="Menlo"/>
              </a:rPr>
              <a:t>EVOLUTION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0604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E9EEF5"/>
                </a:solidFill>
                <a:latin typeface="PingFang SC"/>
              </a:rPr>
              <a:t>后续追踪品牌变化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2918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9AA6B2"/>
                </a:solidFill>
                <a:latin typeface="PingFang SC"/>
              </a:rPr>
              <a:t>·  Phase 0 发现 report.md 已存在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703319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9AA6B2"/>
                </a:solidFill>
                <a:latin typeface="PingFang SC"/>
              </a:rPr>
              <a:t>·  Phase 1E 列 diff plan：哪些维度可能变了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1148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9AA6B2"/>
                </a:solidFill>
                <a:latin typeface="PingFang SC"/>
              </a:rPr>
              <a:t>·  只重跑变了的维度（省时间省成本）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5262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9AA6B2"/>
                </a:solidFill>
                <a:latin typeface="PingFang SC"/>
              </a:rPr>
              <a:t>·  评委只在受影响维度上重打分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9377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9AA6B2"/>
                </a:solidFill>
                <a:latin typeface="PingFang SC"/>
              </a:rPr>
              <a:t>·  Phase 5 版本号 +1，写 v{n}_&lt;date&gt;.{md,html}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3492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9AA6B2"/>
                </a:solidFill>
                <a:latin typeface="PingFang SC"/>
              </a:rPr>
              <a:t>·  时间序列：跟踪品牌如何演化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25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MBA · Metric Brand Auditor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7A4D"/>
                </a:solidFill>
                <a:latin typeface="Menlo"/>
              </a:rPr>
              <a:t>USAGE · 用户场景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548640" cy="54864"/>
          </a:xfrm>
          <a:prstGeom prst="rect">
            <a:avLst/>
          </a:prstGeom>
          <a:solidFill>
            <a:srgbClr val="F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E9EEF5"/>
                </a:solidFill>
                <a:latin typeface="PingFang SC"/>
              </a:rPr>
              <a:t>给谁用、什么时候用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4114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9AA6B2"/>
                </a:solidFill>
                <a:latin typeface="Menlo"/>
              </a:rPr>
              <a:t>用户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713232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9AA6B2"/>
                </a:solidFill>
                <a:latin typeface="Menlo"/>
              </a:rPr>
              <a:t>典型场景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2667000"/>
            <a:ext cx="11247120" cy="0"/>
          </a:xfrm>
          <a:prstGeom prst="line">
            <a:avLst/>
          </a:prstGeom>
          <a:ln w="9525">
            <a:solidFill>
              <a:srgbClr val="1F26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2712720"/>
            <a:ext cx="4114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7A4D"/>
                </a:solidFill>
                <a:latin typeface="PingFang SC"/>
              </a:rPr>
              <a:t>创始人 / CEO Office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12720"/>
            <a:ext cx="713232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战略叙事一致性诊断 / 融资 deck 前的品牌镜子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3276600"/>
            <a:ext cx="11247120" cy="0"/>
          </a:xfrm>
          <a:prstGeom prst="line">
            <a:avLst/>
          </a:prstGeom>
          <a:ln w="3175">
            <a:solidFill>
              <a:srgbClr val="1F26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3322320"/>
            <a:ext cx="4114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7A4D"/>
                </a:solidFill>
                <a:latin typeface="PingFang SC"/>
              </a:rPr>
              <a:t>投资人 / VC / 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22320"/>
            <a:ext cx="713232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Brand Influence Due Diligence / portfolio 持续监控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" y="3886200"/>
            <a:ext cx="11247120" cy="0"/>
          </a:xfrm>
          <a:prstGeom prst="line">
            <a:avLst/>
          </a:prstGeom>
          <a:ln w="3175">
            <a:solidFill>
              <a:srgbClr val="1F26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3931920"/>
            <a:ext cx="4114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7A4D"/>
                </a:solidFill>
                <a:latin typeface="PingFang SC"/>
              </a:rPr>
              <a:t>战略部 / 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931920"/>
            <a:ext cx="713232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上市公司品牌叙事审计 / 竞品定位追踪 / IPO Narrative Check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4495800"/>
            <a:ext cx="11247120" cy="0"/>
          </a:xfrm>
          <a:prstGeom prst="line">
            <a:avLst/>
          </a:prstGeom>
          <a:ln w="3175">
            <a:solidFill>
              <a:srgbClr val="1F26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4541520"/>
            <a:ext cx="4114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7A4D"/>
                </a:solidFill>
                <a:latin typeface="PingFang SC"/>
              </a:rPr>
              <a:t>品牌 / 增长团队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541520"/>
            <a:ext cx="713232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发布前复盘 / 品类定义权验证 / Founder Story Audit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" y="5105400"/>
            <a:ext cx="11247120" cy="0"/>
          </a:xfrm>
          <a:prstGeom prst="line">
            <a:avLst/>
          </a:prstGeom>
          <a:ln w="3175">
            <a:solidFill>
              <a:srgbClr val="1F26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5151120"/>
            <a:ext cx="4114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7A4D"/>
                </a:solidFill>
                <a:latin typeface="PingFang SC"/>
              </a:rPr>
              <a:t>咨询公司 / 二级研究员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151120"/>
            <a:ext cx="713232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9EEF5"/>
                </a:solidFill>
                <a:latin typeface="PingFang SC"/>
              </a:rPr>
              <a:t>输入素材层，加速尽调与战略项目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320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26 /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AA6B2"/>
                </a:solidFill>
                <a:latin typeface="Menlo"/>
              </a:rPr>
              <a:t>MBA · Metric Brand Auditor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FF7A4D"/>
                </a:solidFill>
                <a:latin typeface="Menlo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0">
                <a:solidFill>
                  <a:srgbClr val="9AA6B2"/>
                </a:solidFill>
                <a:latin typeface="PingFang SC"/>
              </a:rPr>
              <a:t>我们不是在做 AI 品牌报告。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>
                <a:solidFill>
                  <a:srgbClr val="FF7A4D"/>
                </a:solidFill>
                <a:latin typeface="PingFang SC"/>
              </a:rPr>
              <a:t>我们是在做 AI 时代的品牌影响力审计协议。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206240"/>
            <a:ext cx="731520" cy="54864"/>
          </a:xfrm>
          <a:prstGeom prst="rect">
            <a:avLst/>
          </a:prstGeom>
          <a:solidFill>
            <a:srgbClr val="FF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AA6B2"/>
                </a:solidFill>
                <a:latin typeface="Menlo"/>
              </a:rPr>
              <a:t>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4572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9EEF5"/>
                </a:solidFill>
                <a:latin typeface="Menlo"/>
              </a:rPr>
              <a:t>mbabrand.com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377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AA6B2"/>
                </a:solidFill>
                <a:latin typeface="Menlo"/>
              </a:rPr>
              <a:t>SAMPLE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937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9EEF5"/>
                </a:solidFill>
                <a:latin typeface="Menlo"/>
              </a:rPr>
              <a:t>mbabrand.com/reports/lenovo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03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AA6B2"/>
                </a:solidFill>
                <a:latin typeface="Menlo"/>
              </a:rPr>
              <a:t>INSTALL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3035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9EEF5"/>
                </a:solidFill>
                <a:latin typeface="Menlo"/>
              </a:rPr>
              <a:t>botlearn.ai/skillhunt/v2/s/metric-brand-auditor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69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AA6B2"/>
                </a:solidFill>
                <a:latin typeface="Menlo"/>
              </a:rPr>
              <a:t>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6692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9EEF5"/>
                </a:solidFill>
                <a:latin typeface="Menlo"/>
              </a:rPr>
              <a:t>Jason · 清风 · John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35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AA6B2"/>
                </a:solidFill>
                <a:latin typeface="Menlo"/>
              </a:rPr>
              <a:t>POWERED 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6035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E9EEF5"/>
                </a:solidFill>
                <a:latin typeface="Menlo"/>
              </a:rPr>
              <a:t>marsdata.ai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