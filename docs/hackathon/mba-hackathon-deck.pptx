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800" b="1">
                <a:solidFill>
                  <a:srgbClr val="FFFFFF"/>
                </a:solidFill>
                <a:latin typeface="PingFang SC"/>
              </a:rPr>
              <a:t>MBA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1089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0">
                <a:solidFill>
                  <a:srgbClr val="E87A3E"/>
                </a:solidFill>
                <a:latin typeface="PingFang SC"/>
              </a:rPr>
              <a:t>Metric Brand Auditor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PingFang SC"/>
              </a:rPr>
              <a:t>给品牌叙事做体检的 5 评委 AI 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9768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PingFang SC"/>
              </a:rPr>
              <a:t>The 5-judge AI panel that audits brand narratives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E8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6480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PingFang SC"/>
              </a:rPr>
              <a:t>github.com/zhanglunet/mba    ·    Hackathon Pitch    ·  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PingFang SC"/>
              </a:rPr>
              <a:t>品牌分析报告的 3 大顽疾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PingFang SC"/>
              </a:rPr>
              <a:t>Why brand analysis is broken today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371600"/>
            <a:ext cx="3566160" cy="4023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>
                <a:solidFill>
                  <a:srgbClr val="E87A3E"/>
                </a:solidFill>
                <a:latin typeface="PingFang SC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4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3A5C"/>
                </a:solidFill>
                <a:latin typeface="PingFang SC"/>
              </a:rPr>
              <a:t>单线程 单视角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92608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PingFang SC"/>
              </a:rPr>
              <a:t>One analyst, one bias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657600"/>
            <a:ext cx="30175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PingFang SC"/>
              </a:rPr>
              <a:t>一个人写一份报告
容易陷入自家叙事
或个人偏好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1371600"/>
            <a:ext cx="3566160" cy="4023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55448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>
                <a:solidFill>
                  <a:srgbClr val="E87A3E"/>
                </a:solidFill>
                <a:latin typeface="PingFang S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37744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3A5C"/>
                </a:solidFill>
                <a:latin typeface="PingFang SC"/>
              </a:rPr>
              <a:t>不可复盘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92608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PingFang SC"/>
              </a:rPr>
              <a:t>Not auditable over 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657600"/>
            <a:ext cx="30175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PingFang SC"/>
              </a:rPr>
              <a:t>报告是一次性的
半年后再看
不知道哪些已过时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83880" y="1371600"/>
            <a:ext cx="3566160" cy="4023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200" y="155448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>
                <a:solidFill>
                  <a:srgbClr val="E87A3E"/>
                </a:solidFill>
                <a:latin typeface="PingFang SC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37744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3A5C"/>
                </a:solidFill>
                <a:latin typeface="PingFang SC"/>
              </a:rPr>
              <a:t>打分漂移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292608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PingFang SC"/>
              </a:rPr>
              <a:t>Score drift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3657600"/>
            <a:ext cx="30175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PingFang SC"/>
              </a:rPr>
              <a:t>每个分析师有自己的尺度
跨品牌、跨时间
不可比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6692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E87A3E"/>
                </a:solidFill>
                <a:latin typeface="PingFang SC"/>
              </a:rPr>
              <a:t>→ 我们用 3 条对应机制解决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PingFang SC"/>
              </a:rPr>
              <a:t>MBA · 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PingFang SC"/>
              </a:rPr>
              <a:t>不靠一个分析师,靠 5 个名人评委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PingFang SC"/>
              </a:rPr>
              <a:t>5 in-character AI judges, scoring independently</a:t>
            </a:r>
          </a:p>
        </p:txBody>
      </p:sp>
      <p:sp>
        <p:nvSpPr>
          <p:cNvPr id="6" name="Rectangle 5"/>
          <p:cNvSpPr/>
          <p:nvPr/>
        </p:nvSpPr>
        <p:spPr>
          <a:xfrm>
            <a:off x="371703" y="1371600"/>
            <a:ext cx="2194560" cy="3291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71703" y="1371600"/>
            <a:ext cx="2194560" cy="16459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1703" y="1691640"/>
            <a:ext cx="21945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000" b="0">
                <a:solidFill>
                  <a:srgbClr val="1A1A1A"/>
                </a:solidFill>
                <a:latin typeface="PingFang SC"/>
              </a:rPr>
              <a:t>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1703" y="283464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1A3A5C"/>
                </a:solidFill>
                <a:latin typeface="PingFang SC"/>
              </a:rPr>
              <a:t>傅盛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8863" y="342900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E87A3E"/>
                </a:solidFill>
                <a:latin typeface="PingFang SC"/>
              </a:rPr>
              <a:t>看穿渠道与杠杆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8863" y="397764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PingFang SC"/>
              </a:rPr>
              <a:t>猎豹 / OpenClaw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85135" y="1371600"/>
            <a:ext cx="2194560" cy="3291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85135" y="1371600"/>
            <a:ext cx="2194560" cy="164592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85135" y="1691640"/>
            <a:ext cx="21945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000" b="0">
                <a:solidFill>
                  <a:srgbClr val="1A1A1A"/>
                </a:solidFill>
                <a:latin typeface="PingFang SC"/>
              </a:rPr>
              <a:t>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85135" y="283464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1A3A5C"/>
                </a:solidFill>
                <a:latin typeface="PingFang SC"/>
              </a:rPr>
              <a:t>Steve Jobs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22295" y="342900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E87A3E"/>
                </a:solidFill>
                <a:latin typeface="PingFang SC"/>
              </a:rPr>
              <a:t>看穿品类命名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22295" y="397764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PingFang SC"/>
              </a:rPr>
              <a:t>Apple / NeXT / Pixar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98567" y="1371600"/>
            <a:ext cx="2194560" cy="3291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998567" y="1371600"/>
            <a:ext cx="2194560" cy="16459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98567" y="1691640"/>
            <a:ext cx="21945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000" b="0">
                <a:solidFill>
                  <a:srgbClr val="1A1A1A"/>
                </a:solidFill>
                <a:latin typeface="PingFang SC"/>
              </a:rPr>
              <a:t>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98567" y="283464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1A3A5C"/>
                </a:solidFill>
                <a:latin typeface="PingFang SC"/>
              </a:rPr>
              <a:t>李可佳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35727" y="342900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E87A3E"/>
                </a:solidFill>
                <a:latin typeface="PingFang SC"/>
              </a:rPr>
              <a:t>看穿新物种叙事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35727" y="397764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PingFang SC"/>
              </a:rPr>
              <a:t>BotLearn / Aibrary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1999" y="1371600"/>
            <a:ext cx="2194560" cy="3291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1999" y="1371600"/>
            <a:ext cx="2194560" cy="16459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1999" y="1691640"/>
            <a:ext cx="21945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000" b="0">
                <a:solidFill>
                  <a:srgbClr val="1A1A1A"/>
                </a:solidFill>
                <a:latin typeface="PingFang SC"/>
              </a:rPr>
              <a:t>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1999" y="283464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1A3A5C"/>
                </a:solidFill>
                <a:latin typeface="PingFang SC"/>
              </a:rPr>
              <a:t>吴俊东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49159" y="342900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E87A3E"/>
                </a:solidFill>
                <a:latin typeface="PingFang SC"/>
              </a:rPr>
              <a:t>看穿教育与长期投资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49159" y="397764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PingFang SC"/>
              </a:rPr>
              <a:t>Aibrary 联创 / 前 TAL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625431" y="1371600"/>
            <a:ext cx="2194560" cy="3291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625431" y="1371600"/>
            <a:ext cx="2194560" cy="164592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25431" y="1691640"/>
            <a:ext cx="21945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000" b="0">
                <a:solidFill>
                  <a:srgbClr val="1A1A1A"/>
                </a:solidFill>
                <a:latin typeface="PingFang SC"/>
              </a:rPr>
              <a:t>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25431" y="283464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1A3A5C"/>
                </a:solidFill>
                <a:latin typeface="PingFang SC"/>
              </a:rPr>
              <a:t>张一鸣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62591" y="342900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E87A3E"/>
                </a:solidFill>
                <a:latin typeface="PingFang SC"/>
              </a:rPr>
              <a:t>看穿组织与赛马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62591" y="397764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PingFang SC"/>
              </a:rPr>
              <a:t>字节跳动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52120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A3A5C"/>
                </a:solidFill>
                <a:latin typeface="PingFang SC"/>
              </a:rPr>
              <a:t>5 评委 IN CHARACTER 独立打分,DO NOT read each other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56692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64748B"/>
                </a:solidFill>
                <a:latin typeface="PingFang SC"/>
              </a:rPr>
              <a:t>分歧本身就是产品价值 —— 共识告诉你品牌强在哪,撕扯告诉你哪里有故事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PingFang SC"/>
              </a:rPr>
              <a:t>MBA · 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PingFang SC"/>
              </a:rPr>
              <a:t>5 阶段流水线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PingFang SC"/>
              </a:rPr>
              <a:t>Phase 0 → 5: from brand name to versioned report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678027" y="1828800"/>
            <a:ext cx="16916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78027" y="1828800"/>
            <a:ext cx="1691640" cy="41148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8027" y="1874520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Phase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9467" y="2377440"/>
            <a:ext cx="1508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A3A5C"/>
                </a:solidFill>
                <a:latin typeface="PingFang SC"/>
              </a:rPr>
              <a:t>Router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9467" y="3017520"/>
            <a:ext cx="15087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PingFang SC"/>
              </a:rPr>
              <a:t>FRESH or
EVOLUTION?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387955" y="2697480"/>
            <a:ext cx="100584" cy="182880"/>
          </a:xfrm>
          <a:prstGeom prst="rightArrow">
            <a:avLst/>
          </a:prstGeom>
          <a:solidFill>
            <a:srgbClr val="E87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06827" y="1828800"/>
            <a:ext cx="16916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06827" y="1828800"/>
            <a:ext cx="1691640" cy="41148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06827" y="1874520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Phase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98267" y="2377440"/>
            <a:ext cx="1508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A3A5C"/>
                </a:solidFill>
                <a:latin typeface="PingFang SC"/>
              </a:rPr>
              <a:t>Discovery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98267" y="3017520"/>
            <a:ext cx="15087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PingFang SC"/>
              </a:rPr>
              <a:t>Lead 起草 PRD
+ GATE 1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216755" y="2697480"/>
            <a:ext cx="100584" cy="182880"/>
          </a:xfrm>
          <a:prstGeom prst="rightArrow">
            <a:avLst/>
          </a:prstGeom>
          <a:solidFill>
            <a:srgbClr val="E87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35627" y="1828800"/>
            <a:ext cx="16916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35627" y="1828800"/>
            <a:ext cx="1691640" cy="41148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35627" y="1874520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Phase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27067" y="2377440"/>
            <a:ext cx="1508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A3A5C"/>
                </a:solidFill>
                <a:latin typeface="PingFang SC"/>
              </a:rPr>
              <a:t>Parallel
Research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27067" y="3017520"/>
            <a:ext cx="15087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PingFang SC"/>
              </a:rPr>
              <a:t>N sub-agents
并行调研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6045555" y="2697480"/>
            <a:ext cx="100584" cy="182880"/>
          </a:xfrm>
          <a:prstGeom prst="rightArrow">
            <a:avLst/>
          </a:prstGeom>
          <a:solidFill>
            <a:srgbClr val="E87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64427" y="1828800"/>
            <a:ext cx="16916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64427" y="1828800"/>
            <a:ext cx="1691640" cy="41148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64427" y="1874520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Phase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55867" y="2377440"/>
            <a:ext cx="1508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A3A5C"/>
                </a:solidFill>
                <a:latin typeface="PingFang SC"/>
              </a:rPr>
              <a:t>Synthesis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55867" y="3017520"/>
            <a:ext cx="15087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PingFang SC"/>
              </a:rPr>
              <a:t>Lead 合成
leverage map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7874355" y="2697480"/>
            <a:ext cx="100584" cy="182880"/>
          </a:xfrm>
          <a:prstGeom prst="rightArrow">
            <a:avLst/>
          </a:prstGeom>
          <a:solidFill>
            <a:srgbClr val="E87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993227" y="1828800"/>
            <a:ext cx="16916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993227" y="1828800"/>
            <a:ext cx="1691640" cy="41148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93227" y="1874520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Phase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84667" y="2377440"/>
            <a:ext cx="1508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A3A5C"/>
                </a:solidFill>
                <a:latin typeface="PingFang SC"/>
              </a:rPr>
              <a:t>5-Judge
Panel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84667" y="3017520"/>
            <a:ext cx="15087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PingFang SC"/>
              </a:rPr>
              <a:t>评委独立
打分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9703155" y="2697480"/>
            <a:ext cx="100584" cy="182880"/>
          </a:xfrm>
          <a:prstGeom prst="rightArrow">
            <a:avLst/>
          </a:prstGeom>
          <a:solidFill>
            <a:srgbClr val="E87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822027" y="1828800"/>
            <a:ext cx="16916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822027" y="1828800"/>
            <a:ext cx="1691640" cy="41148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822027" y="1874520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Phase 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13467" y="2377440"/>
            <a:ext cx="1508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A3A5C"/>
                </a:solidFill>
                <a:latin typeface="PingFang SC"/>
              </a:rPr>
              <a:t>Merge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13467" y="3017520"/>
            <a:ext cx="15087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PingFang SC"/>
              </a:rPr>
              <a:t>report.md
+ report.html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48463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PingFang SC"/>
              </a:rPr>
              <a:t>典型一份报告: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5349240"/>
            <a:ext cx="260604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544068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A3A5C"/>
                </a:solidFill>
                <a:latin typeface="PingFang SC"/>
              </a:rPr>
              <a:t>⏱  ~25 min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91840" y="5349240"/>
            <a:ext cx="260604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91840" y="544068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A3A5C"/>
                </a:solidFill>
                <a:latin typeface="PingFang SC"/>
              </a:rPr>
              <a:t>💰  $4-5 / 份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35040" y="5349240"/>
            <a:ext cx="260604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35040" y="544068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A3A5C"/>
                </a:solidFill>
                <a:latin typeface="PingFang SC"/>
              </a:rPr>
              <a:t>📊  5 评委 × 5 镜头 × 7 维度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778240" y="5349240"/>
            <a:ext cx="260604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778240" y="544068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A3A5C"/>
                </a:solidFill>
                <a:latin typeface="PingFang SC"/>
              </a:rPr>
              <a:t>📝  Markdown + 自包含 HTML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PingFang SC"/>
              </a:rPr>
              <a:t>MBA · 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PingFang SC"/>
              </a:rPr>
              <a:t>实际产出:Score Matrix + Dissent Heatmap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PingFang SC"/>
              </a:rPr>
              <a:t>How readers skim a 25-min audit in 30 seconds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3A5C"/>
                </a:solidFill>
                <a:latin typeface="PingFang SC"/>
              </a:rPr>
              <a:t>5×5 评委打分矩阵 + σ 列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1463040" cy="45720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36192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ingFang SC"/>
              </a:rPr>
              <a:t>镜头 / Lens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0" y="1417320"/>
            <a:ext cx="502920" cy="45720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11680" y="1536192"/>
            <a:ext cx="502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ingFang SC"/>
              </a:rPr>
              <a:t>傅盛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14600" y="1417320"/>
            <a:ext cx="502920" cy="45720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14600" y="1536192"/>
            <a:ext cx="502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ingFang SC"/>
              </a:rPr>
              <a:t>Jobs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17520" y="1417320"/>
            <a:ext cx="548640" cy="45720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17520" y="1536192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ingFang SC"/>
              </a:rPr>
              <a:t>李可佳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66160" y="1417320"/>
            <a:ext cx="548640" cy="45720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6160" y="1536192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ingFang SC"/>
              </a:rPr>
              <a:t>吴俊东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0" y="1417320"/>
            <a:ext cx="640080" cy="45720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0" y="1536192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ingFang SC"/>
              </a:rPr>
              <a:t>张一鸣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54880" y="1417320"/>
            <a:ext cx="457200" cy="45720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0" y="1536192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ingFang SC"/>
              </a:rPr>
              <a:t>σ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1874520"/>
            <a:ext cx="14630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1993392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PingFang SC"/>
              </a:rPr>
              <a:t>Origin authenticity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11680" y="1874520"/>
            <a:ext cx="502920" cy="4572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011680" y="1993392"/>
            <a:ext cx="502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A1A1A"/>
                </a:solidFill>
                <a:latin typeface="PingFang SC"/>
              </a:rPr>
              <a:t>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14600" y="1874520"/>
            <a:ext cx="502920" cy="4572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14600" y="1993392"/>
            <a:ext cx="502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A1A1A"/>
                </a:solidFill>
                <a:latin typeface="PingFang SC"/>
              </a:rPr>
              <a:t>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1874520"/>
            <a:ext cx="548640" cy="457200"/>
          </a:xfrm>
          <a:prstGeom prst="rect">
            <a:avLst/>
          </a:prstGeom>
          <a:solidFill>
            <a:srgbClr val="BBF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17520" y="1993392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A1A1A"/>
                </a:solidFill>
                <a:latin typeface="PingFang SC"/>
              </a:rPr>
              <a:t>8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566160" y="1874520"/>
            <a:ext cx="548640" cy="4572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66160" y="1993392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A1A1A"/>
                </a:solidFill>
                <a:latin typeface="PingFang SC"/>
              </a:rPr>
              <a:t>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0" y="1874520"/>
            <a:ext cx="640080" cy="4572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0" y="1993392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A1A1A"/>
                </a:solidFill>
                <a:latin typeface="PingFang SC"/>
              </a:rPr>
              <a:t>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54880" y="1874520"/>
            <a:ext cx="457200" cy="457200"/>
          </a:xfrm>
          <a:prstGeom prst="rect">
            <a:avLst/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54880" y="1993392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A1A1A"/>
                </a:solidFill>
                <a:latin typeface="PingFang SC"/>
              </a:rPr>
              <a:t>0.7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2331720"/>
            <a:ext cx="14630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2450592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PingFang SC"/>
              </a:rPr>
              <a:t>Category coinage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011680" y="2331720"/>
            <a:ext cx="502920" cy="457200"/>
          </a:xfrm>
          <a:prstGeom prst="rect">
            <a:avLst/>
          </a:prstGeom>
          <a:solidFill>
            <a:srgbClr val="BBF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011680" y="2450592"/>
            <a:ext cx="502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A1A1A"/>
                </a:solidFill>
                <a:latin typeface="PingFang SC"/>
              </a:rPr>
              <a:t>10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514600" y="2331720"/>
            <a:ext cx="502920" cy="457200"/>
          </a:xfrm>
          <a:prstGeom prst="rect">
            <a:avLst/>
          </a:prstGeom>
          <a:solidFill>
            <a:srgbClr val="FECA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514600" y="2450592"/>
            <a:ext cx="502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A1A1A"/>
                </a:solidFill>
                <a:latin typeface="PingFang SC"/>
              </a:rPr>
              <a:t>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017520" y="2331720"/>
            <a:ext cx="548640" cy="457200"/>
          </a:xfrm>
          <a:prstGeom prst="rect">
            <a:avLst/>
          </a:prstGeom>
          <a:solidFill>
            <a:srgbClr val="BBF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017520" y="2450592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A1A1A"/>
                </a:solidFill>
                <a:latin typeface="PingFang SC"/>
              </a:rPr>
              <a:t>9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566160" y="2331720"/>
            <a:ext cx="548640" cy="4572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566160" y="2450592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A1A1A"/>
                </a:solidFill>
                <a:latin typeface="PingFang SC"/>
              </a:rPr>
              <a:t>7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14800" y="2331720"/>
            <a:ext cx="640080" cy="4572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114800" y="2450592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A1A1A"/>
                </a:solidFill>
                <a:latin typeface="PingFang SC"/>
              </a:rPr>
              <a:t>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754880" y="2331720"/>
            <a:ext cx="457200" cy="457200"/>
          </a:xfrm>
          <a:prstGeom prst="rect">
            <a:avLst/>
          </a:prstGeom>
          <a:solidFill>
            <a:srgbClr val="A5B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754880" y="2450592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A1A1A"/>
                </a:solidFill>
                <a:latin typeface="PingFang SC"/>
              </a:rPr>
              <a:t>2.3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2788920"/>
            <a:ext cx="14630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" y="2907792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PingFang SC"/>
              </a:rPr>
              <a:t>Leverage quality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011680" y="2788920"/>
            <a:ext cx="502920" cy="4572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011680" y="2907792"/>
            <a:ext cx="502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A1A1A"/>
                </a:solidFill>
                <a:latin typeface="PingFang SC"/>
              </a:rPr>
              <a:t>6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514600" y="2788920"/>
            <a:ext cx="502920" cy="4572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514600" y="2907792"/>
            <a:ext cx="502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A1A1A"/>
                </a:solidFill>
                <a:latin typeface="PingFang SC"/>
              </a:rPr>
              <a:t>5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017520" y="2788920"/>
            <a:ext cx="548640" cy="4572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017520" y="2907792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A1A1A"/>
                </a:solidFill>
                <a:latin typeface="PingFang SC"/>
              </a:rPr>
              <a:t>6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566160" y="2788920"/>
            <a:ext cx="548640" cy="4572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566160" y="2907792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A1A1A"/>
                </a:solidFill>
                <a:latin typeface="PingFang SC"/>
              </a:rPr>
              <a:t>5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114800" y="2788920"/>
            <a:ext cx="640080" cy="4572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14800" y="2907792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A1A1A"/>
                </a:solidFill>
                <a:latin typeface="PingFang SC"/>
              </a:rPr>
              <a:t>6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754880" y="2788920"/>
            <a:ext cx="457200" cy="457200"/>
          </a:xfrm>
          <a:prstGeom prst="rect">
            <a:avLst/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754880" y="2907792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A1A1A"/>
                </a:solidFill>
                <a:latin typeface="PingFang SC"/>
              </a:rPr>
              <a:t>0.5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48640" y="3246120"/>
            <a:ext cx="14630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0080" y="3364992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PingFang SC"/>
              </a:rPr>
              <a:t>Identity coherence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011680" y="3246120"/>
            <a:ext cx="502920" cy="457200"/>
          </a:xfrm>
          <a:prstGeom prst="rect">
            <a:avLst/>
          </a:prstGeom>
          <a:solidFill>
            <a:srgbClr val="FECA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011680" y="3364992"/>
            <a:ext cx="502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A1A1A"/>
                </a:solidFill>
                <a:latin typeface="PingFang SC"/>
              </a:rPr>
              <a:t>4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514600" y="3246120"/>
            <a:ext cx="502920" cy="457200"/>
          </a:xfrm>
          <a:prstGeom prst="rect">
            <a:avLst/>
          </a:prstGeom>
          <a:solidFill>
            <a:srgbClr val="BBF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514600" y="3364992"/>
            <a:ext cx="502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A1A1A"/>
                </a:solidFill>
                <a:latin typeface="PingFang SC"/>
              </a:rPr>
              <a:t>9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017520" y="3246120"/>
            <a:ext cx="548640" cy="4572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017520" y="3364992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A1A1A"/>
                </a:solidFill>
                <a:latin typeface="PingFang SC"/>
              </a:rPr>
              <a:t>6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566160" y="3246120"/>
            <a:ext cx="548640" cy="4572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566160" y="3364992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A1A1A"/>
                </a:solidFill>
                <a:latin typeface="PingFang SC"/>
              </a:rPr>
              <a:t>5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114800" y="3246120"/>
            <a:ext cx="640080" cy="4572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114800" y="3364992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A1A1A"/>
                </a:solidFill>
                <a:latin typeface="PingFang SC"/>
              </a:rPr>
              <a:t>5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754880" y="3246120"/>
            <a:ext cx="457200" cy="457200"/>
          </a:xfrm>
          <a:prstGeom prst="rect">
            <a:avLst/>
          </a:prstGeom>
          <a:solidFill>
            <a:srgbClr val="A5B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754880" y="3364992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A1A1A"/>
                </a:solidFill>
                <a:latin typeface="PingFang SC"/>
              </a:rPr>
              <a:t>1.7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48640" y="3703320"/>
            <a:ext cx="14630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40080" y="3822192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PingFang SC"/>
              </a:rPr>
              <a:t>Real-world signal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011680" y="3703320"/>
            <a:ext cx="502920" cy="457200"/>
          </a:xfrm>
          <a:prstGeom prst="rect">
            <a:avLst/>
          </a:prstGeom>
          <a:solidFill>
            <a:srgbClr val="BBF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011680" y="3822192"/>
            <a:ext cx="502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A1A1A"/>
                </a:solidFill>
                <a:latin typeface="PingFang SC"/>
              </a:rPr>
              <a:t>8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514600" y="3703320"/>
            <a:ext cx="502920" cy="4572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514600" y="3822192"/>
            <a:ext cx="502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A1A1A"/>
                </a:solidFill>
                <a:latin typeface="PingFang SC"/>
              </a:rPr>
              <a:t>5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017520" y="3703320"/>
            <a:ext cx="548640" cy="457200"/>
          </a:xfrm>
          <a:prstGeom prst="rect">
            <a:avLst/>
          </a:prstGeom>
          <a:solidFill>
            <a:srgbClr val="BBF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017520" y="3822192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A1A1A"/>
                </a:solidFill>
                <a:latin typeface="PingFang SC"/>
              </a:rPr>
              <a:t>9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566160" y="3703320"/>
            <a:ext cx="548640" cy="4572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566160" y="3822192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A1A1A"/>
                </a:solidFill>
                <a:latin typeface="PingFang SC"/>
              </a:rPr>
              <a:t>7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114800" y="3703320"/>
            <a:ext cx="640080" cy="4572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114800" y="3822192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A1A1A"/>
                </a:solidFill>
                <a:latin typeface="PingFang SC"/>
              </a:rPr>
              <a:t>7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754880" y="3703320"/>
            <a:ext cx="457200" cy="457200"/>
          </a:xfrm>
          <a:prstGeom prst="rect">
            <a:avLst/>
          </a:prstGeom>
          <a:solidFill>
            <a:srgbClr val="C7D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754880" y="3822192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A1A1A"/>
                </a:solidFill>
                <a:latin typeface="PingFang SC"/>
              </a:rPr>
              <a:t>1.4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675120" y="10058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3A5C"/>
                </a:solidFill>
                <a:latin typeface="PingFang SC"/>
              </a:rPr>
              <a:t>怎么读这张图?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675120" y="1417320"/>
            <a:ext cx="50292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PingFang SC"/>
              </a:rPr>
              <a:t>σ ≤ 0.8  共识区 — 大家都说这事儿成立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PingFang SC"/>
              </a:rPr>
              <a:t>σ 0.8-1.5  小分歧 — 评委有不同侧重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1A1A1A"/>
                </a:solidFill>
                <a:latin typeface="PingFang SC"/>
              </a:rPr>
              <a:t>σ &gt; 1.5  撕扯区 — 这里有故事,值得深挖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675120" y="31089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87A3E"/>
                </a:solidFill>
                <a:latin typeface="PingFang SC"/>
              </a:rPr>
              <a:t>这一个矩阵 = 30 秒看完的「高密度信号」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675120" y="3611880"/>
            <a:ext cx="50292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PingFang SC"/>
              </a:rPr>
              <a:t>• 按 σ 列排序,直接看哪行有撕扯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PingFang SC"/>
              </a:rPr>
              <a:t>• 点开撕扯行,跳到评委卡片看 quote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PingFang SC"/>
              </a:rPr>
              <a:t>• 共识告诉你品牌强在哪,撕扯暴露真相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PingFang SC"/>
              </a:rPr>
              <a:t>• 跨品牌 / 跨时间使用同一坐标系,可对比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48640" y="57607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PingFang SC"/>
              </a:rPr>
              <a:t>完整 HTML 报告还含:Radar 雷达、Mermaid 影响力流程、Quadrant 定位、评委卡墙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PingFang SC"/>
              </a:rPr>
              <a:t>MBA · 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PingFang SC"/>
              </a:rPr>
              <a:t>为什么 MBA 不是「5 个 ChatGPT 套娃」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PingFang SC"/>
              </a:rPr>
              <a:t>The 3 design disciplines that make judges actually disagree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371600"/>
            <a:ext cx="3566160" cy="4023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>
                <a:solidFill>
                  <a:srgbClr val="E87A3E"/>
                </a:solidFill>
                <a:latin typeface="PingFang SC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3172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A3A5C"/>
                </a:solidFill>
                <a:latin typeface="PingFang SC"/>
              </a:rPr>
              <a:t>评委不是 prompt,是 skill bundle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92608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PingFang SC"/>
              </a:rPr>
              <a:t>Each judge is a real skill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429000"/>
            <a:ext cx="30175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PingFang SC"/>
              </a:rPr>
              <a:t>每位评委 = 一个独立 perspective skill
含 80%+ 一手调研(访谈 / 文章 / 播客)
LOAD SKILL.md 后才进入打分,确保 in-character
不是「装作傅盛」——是真正读完傅盛 30+ 篇一手资料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1371600"/>
            <a:ext cx="3566160" cy="4023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55448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>
                <a:solidFill>
                  <a:srgbClr val="E87A3E"/>
                </a:solidFill>
                <a:latin typeface="PingFang S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33172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A3A5C"/>
                </a:solidFill>
                <a:latin typeface="PingFang SC"/>
              </a:rPr>
              <a:t>DO NOT read each other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92608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PingFang SC"/>
              </a:rPr>
              <a:t>Independent scoring, enforced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429000"/>
            <a:ext cx="30175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PingFang SC"/>
              </a:rPr>
              <a:t>Phase 4 prompt 显式要求评委独立
互相看不到对方 review 文件
避免趋同效应:5 评委变 1 评委 ×5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83880" y="1371600"/>
            <a:ext cx="3566160" cy="4023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200" y="155448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>
                <a:solidFill>
                  <a:srgbClr val="E87A3E"/>
                </a:solidFill>
                <a:latin typeface="PingFang SC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33172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A3A5C"/>
                </a:solidFill>
                <a:latin typeface="PingFang SC"/>
              </a:rPr>
              <a:t>Anti-fabrication 红线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292608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PingFang SC"/>
              </a:rPr>
              <a:t>Hard rules against making things 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3429000"/>
            <a:ext cx="30175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PingFang SC"/>
              </a:rPr>
              <a:t>每个 perspective skill 顶部明确禁区
「不要激活」/「不可编造」/「留白」
MBA 调用时显式 re-read,适用于此刻
违反 = bug,不是 feature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852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E87A3E"/>
                </a:solidFill>
                <a:latin typeface="PingFang SC"/>
              </a:rPr>
              <a:t>→ 让评委的分歧本身,成为产品价值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PingFang SC"/>
              </a:rPr>
              <a:t>MBA · 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PingFang SC"/>
              </a:rPr>
              <a:t>技术架构:4 层 + 0 build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PingFang SC"/>
              </a:rPr>
              <a:t>Markdown is code; ship by editing files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280160"/>
            <a:ext cx="1051560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280160"/>
            <a:ext cx="164592" cy="86868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3716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3A5C"/>
                </a:solidFill>
                <a:latin typeface="PingFang SC"/>
              </a:rPr>
              <a:t>编排层 / Orchestration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6916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E87A3E"/>
                </a:solidFill>
                <a:latin typeface="Menlo"/>
              </a:rPr>
              <a:t>metric-brand-auditor/SKILL.md (~600 行)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508760"/>
            <a:ext cx="6400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PingFang SC"/>
              </a:rPr>
              <a:t>Lead 的 6-phase 工作手册;EVOLUTION 模式、HTML 模板、9 块图表都从这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286000"/>
            <a:ext cx="1051560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2286000"/>
            <a:ext cx="164592" cy="868680"/>
          </a:xfrm>
          <a:prstGeom prst="rect">
            <a:avLst/>
          </a:prstGeom>
          <a:solidFill>
            <a:srgbClr val="325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23774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3A5C"/>
                </a:solidFill>
                <a:latin typeface="PingFang SC"/>
              </a:rPr>
              <a:t>工具层 / Tools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6974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E87A3E"/>
                </a:solidFill>
                <a:latin typeface="Menlo"/>
              </a:rPr>
              <a:t>research/SKILL.md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2514600"/>
            <a:ext cx="6400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PingFang SC"/>
              </a:rPr>
              <a:t>PRD 多代理深度调研,被 MBA 复用,也可独立 /research 触发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3291840"/>
            <a:ext cx="1051560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" y="3291840"/>
            <a:ext cx="164592" cy="868680"/>
          </a:xfrm>
          <a:prstGeom prst="rect">
            <a:avLst/>
          </a:prstGeom>
          <a:solidFill>
            <a:srgbClr val="4D7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33832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3A5C"/>
                </a:solidFill>
                <a:latin typeface="PingFang SC"/>
              </a:rPr>
              <a:t>评委层 / Judges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7033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E87A3E"/>
                </a:solidFill>
                <a:latin typeface="Menlo"/>
              </a:rPr>
              <a:t>5 × *-perspective/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3520440"/>
            <a:ext cx="6400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PingFang SC"/>
              </a:rPr>
              <a:t>fusheng / jobs / likejia / wu-jundong / zhang-yiming · 每套含 6 路调研 + 决策启发式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4297680"/>
            <a:ext cx="1051560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" y="4297680"/>
            <a:ext cx="164592" cy="868680"/>
          </a:xfrm>
          <a:prstGeom prst="rect">
            <a:avLst/>
          </a:prstGeom>
          <a:solidFill>
            <a:srgbClr val="6F9D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43891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3A5C"/>
                </a:solidFill>
                <a:latin typeface="PingFang SC"/>
              </a:rPr>
              <a:t>基建层 / Infra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47091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E87A3E"/>
                </a:solidFill>
                <a:latin typeface="Menlo"/>
              </a:rPr>
              <a:t>wuying_open.py · .env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4526280"/>
            <a:ext cx="6400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PingFang SC"/>
              </a:rPr>
              <a:t>阿里云无影 AgentBay 一次性会话(免费 Lite 即可);.env 不入库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5532120"/>
            <a:ext cx="10515600" cy="54864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565099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A1A1A"/>
                </a:solidFill>
                <a:latin typeface="PingFang SC"/>
              </a:rPr>
              <a:t>🚫 No compile · 🚫 No build · 🚫 No DB    ✅ 改 markdown 即生效 · 贡献门槛 = 会写 markdown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PingFang SC"/>
              </a:rPr>
              <a:t>MBA · 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PingFang SC"/>
              </a:rPr>
              <a:t>已经做完的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PingFang SC"/>
              </a:rPr>
              <a:t>What's shipped — as of v0.2.2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6A34A"/>
                </a:solidFill>
                <a:latin typeface="PingFang SC"/>
              </a:rPr>
              <a:t>✅ Shipped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54864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A1A1A"/>
                </a:solidFill>
                <a:latin typeface="PingFang SC"/>
              </a:rPr>
              <a:t>5 套 perspective skills 完整实现</a:t>
            </a:r>
          </a:p>
          <a:p>
            <a:pPr algn="l" lvl="1">
              <a:spcAft>
                <a:spcPts val="600"/>
              </a:spcAft>
            </a:pPr>
            <a:r>
              <a:rPr sz="1200" b="0">
                <a:solidFill>
                  <a:srgbClr val="1A1A1A"/>
                </a:solidFill>
                <a:latin typeface="PingFang SC"/>
              </a:rPr>
              <a:t>• 每套 80%+ 一手调研(共 ~150 条来源)</a:t>
            </a:r>
          </a:p>
          <a:p>
            <a:pPr algn="l" lvl="1">
              <a:spcAft>
                <a:spcPts val="600"/>
              </a:spcAft>
            </a:pPr>
            <a:r>
              <a:rPr sz="1200" b="0">
                <a:solidFill>
                  <a:srgbClr val="1A1A1A"/>
                </a:solidFill>
                <a:latin typeface="PingFang SC"/>
              </a:rPr>
              <a:t>• 6 路并行研究 + 决策启发式 + 表达 DNA</a:t>
            </a:r>
          </a:p>
          <a:p>
            <a:pPr algn="l" lvl="1">
              <a:spcAft>
                <a:spcPts val="600"/>
              </a:spcAft>
            </a:pPr>
            <a:r>
              <a:rPr sz="1200" b="0">
                <a:solidFill>
                  <a:srgbClr val="1A1A1A"/>
                </a:solidFill>
                <a:latin typeface="PingFang SC"/>
              </a:rPr>
              <a:t>• 都内置 anti-fabrication 红线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1A1A1A"/>
                </a:solidFill>
                <a:latin typeface="PingFang SC"/>
              </a:rPr>
              <a:t>MBA 主流水线 SKILL.md(~600 行)</a:t>
            </a:r>
          </a:p>
          <a:p>
            <a:pPr algn="l" lvl="1">
              <a:spcAft>
                <a:spcPts val="600"/>
              </a:spcAft>
            </a:pPr>
            <a:r>
              <a:rPr sz="1200" b="0">
                <a:solidFill>
                  <a:srgbClr val="1A1A1A"/>
                </a:solidFill>
                <a:latin typeface="PingFang SC"/>
              </a:rPr>
              <a:t>• Phase 0-5 + EVOLUTION 模式</a:t>
            </a:r>
          </a:p>
          <a:p>
            <a:pPr algn="l" lvl="1">
              <a:spcAft>
                <a:spcPts val="600"/>
              </a:spcAft>
            </a:pPr>
            <a:r>
              <a:rPr sz="1200" b="0">
                <a:solidFill>
                  <a:srgbClr val="1A1A1A"/>
                </a:solidFill>
                <a:latin typeface="PingFang SC"/>
              </a:rPr>
              <a:t>• 自包含 HTML 报告(9 块图表)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1A1A1A"/>
                </a:solidFill>
                <a:latin typeface="PingFang SC"/>
              </a:rPr>
              <a:t>/research 复用 skill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1A1A1A"/>
                </a:solidFill>
                <a:latin typeface="PingFang SC"/>
              </a:rPr>
              <a:t>演示报告:zhifang-atelier v1</a:t>
            </a:r>
          </a:p>
          <a:p>
            <a:pPr algn="l" lvl="1">
              <a:spcAft>
                <a:spcPts val="600"/>
              </a:spcAft>
            </a:pPr>
            <a:r>
              <a:rPr sz="1200" b="0">
                <a:solidFill>
                  <a:srgbClr val="1A1A1A"/>
                </a:solidFill>
                <a:latin typeface="PingFang SC"/>
              </a:rPr>
              <a:t>• 完整 _raw / reviews / report.{md,html}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1A1A1A"/>
                </a:solidFill>
                <a:latin typeface="PingFang SC"/>
              </a:rPr>
              <a:t>完整文档手册 docs/(2020 行)</a:t>
            </a:r>
          </a:p>
          <a:p>
            <a:pPr algn="l" lvl="1">
              <a:spcAft>
                <a:spcPts val="600"/>
              </a:spcAft>
            </a:pPr>
            <a:r>
              <a:rPr sz="1200" b="0">
                <a:solidFill>
                  <a:srgbClr val="1A1A1A"/>
                </a:solidFill>
                <a:latin typeface="PingFang SC"/>
              </a:rPr>
              <a:t>• PRD · 架构 · pipeline · usage · 安装 · 规范 · 扩展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1A1A1A"/>
                </a:solidFill>
                <a:latin typeface="PingFang SC"/>
              </a:rPr>
              <a:t>MCP 化设计文档(732 行,未来形态)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100584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3A5C"/>
                </a:solidFill>
                <a:latin typeface="PingFang SC"/>
              </a:rPr>
              <a:t>📊 数据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0" y="1554480"/>
            <a:ext cx="228600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0" y="164592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E87A3E"/>
                </a:solidFill>
                <a:latin typeface="PingFang SC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33172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PingFang SC"/>
              </a:rPr>
              <a:t>perspective skills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0" y="1554480"/>
            <a:ext cx="228600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0" y="164592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E87A3E"/>
                </a:solidFill>
                <a:latin typeface="PingFang SC"/>
              </a:rPr>
              <a:t>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233172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PingFang SC"/>
              </a:rPr>
              <a:t>默认调研维度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2926080"/>
            <a:ext cx="228600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301752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E87A3E"/>
                </a:solidFill>
                <a:latin typeface="PingFang SC"/>
              </a:rPr>
              <a:t>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370332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PingFang SC"/>
              </a:rPr>
              <a:t>HTML 报告组件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0" y="2926080"/>
            <a:ext cx="228600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0" y="301752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E87A3E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370332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PingFang SC"/>
              </a:rPr>
              <a:t>已发版本(v0.1 / 0.2 / 0.2.2)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0" y="4297680"/>
            <a:ext cx="228600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0" y="438912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E87A3E"/>
                </a:solidFill>
                <a:latin typeface="PingFang SC"/>
              </a:rPr>
              <a:t>2752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507492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PingFang SC"/>
              </a:rPr>
              <a:t>行文档(docs/)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6880" y="4297680"/>
            <a:ext cx="228600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0" y="438912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E87A3E"/>
                </a:solidFill>
                <a:latin typeface="PingFang SC"/>
              </a:rPr>
              <a:t>$4-5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507492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PingFang SC"/>
              </a:rPr>
              <a:t>单次审计成本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PingFang SC"/>
              </a:rPr>
              <a:t>MBA · 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PingFang SC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PingFang SC"/>
              </a:rPr>
              <a:t>From skill bundle to MCP server to brand library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280160"/>
            <a:ext cx="105156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280160"/>
            <a:ext cx="1188720" cy="91440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08760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PingFang SC"/>
              </a:rPr>
              <a:t>v0.3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13716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A3A5C"/>
                </a:solidFill>
                <a:latin typeface="PingFang SC"/>
              </a:rPr>
              <a:t>持续打磨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1737360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PingFang SC"/>
              </a:rPr>
              <a:t>更多真实品牌验证 · sub-agent prompt 调优 · 评委辩论模式 RFC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155448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64748B"/>
                </a:solidFill>
                <a:latin typeface="PingFang SC"/>
              </a:rPr>
              <a:t>now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2331720"/>
            <a:ext cx="105156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2331720"/>
            <a:ext cx="1188720" cy="914400"/>
          </a:xfrm>
          <a:prstGeom prst="rect">
            <a:avLst/>
          </a:prstGeom>
          <a:solidFill>
            <a:srgbClr val="E8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560320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PingFang SC"/>
              </a:rPr>
              <a:t>v0.4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24231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A3A5C"/>
                </a:solidFill>
                <a:latin typeface="PingFang SC"/>
              </a:rPr>
              <a:t>MCP 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2788920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PingFang SC"/>
              </a:rPr>
              <a:t>把 MBA 包成 MCP server,任何 MCP-capable agent(OpenClaw / Hermes / Cursor)都能装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260604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64748B"/>
                </a:solidFill>
                <a:latin typeface="PingFang SC"/>
              </a:rPr>
              <a:t>1-2 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3383280"/>
            <a:ext cx="105156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" y="3383280"/>
            <a:ext cx="1188720" cy="914400"/>
          </a:xfrm>
          <a:prstGeom prst="rect">
            <a:avLst/>
          </a:prstGeom>
          <a:solidFill>
            <a:srgbClr val="E8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611880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PingFang SC"/>
              </a:rPr>
              <a:t>v0.5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94560" y="34747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A3A5C"/>
                </a:solidFill>
                <a:latin typeface="PingFang SC"/>
              </a:rPr>
              <a:t>扩展点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3840480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PingFang SC"/>
              </a:rPr>
              <a:t>add_judge / add_dimension 让外部贡献者加自定义评委、自定义维度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365760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64748B"/>
                </a:solidFill>
                <a:latin typeface="PingFang SC"/>
              </a:rPr>
              <a:t>1 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4434840"/>
            <a:ext cx="105156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" y="4434840"/>
            <a:ext cx="1188720" cy="9144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663440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PingFang SC"/>
              </a:rPr>
              <a:t>v1.0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4560" y="45262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A3A5C"/>
                </a:solidFill>
                <a:latin typeface="PingFang SC"/>
              </a:rPr>
              <a:t>公开发行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94560" y="4892040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PingFang SC"/>
              </a:rPr>
              <a:t>Cloudflare Pages 托管 brand library · npm publish mba-mcp-server · 评委 marketplace RFC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470916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64748B"/>
                </a:solidFill>
                <a:latin typeface="PingFang SC"/>
              </a:rPr>
              <a:t>3 个月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PingFang SC"/>
              </a:rPr>
              <a:t>📄 完整 MCP 设计文档:docs/mcp-server-design.md (732 行,7 部分 + 2 附录)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PingFang SC"/>
              </a:rPr>
              <a:t>MBA · 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PingFang SC"/>
              </a:rPr>
              <a:t>为什么现在做 MBA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PingFang SC"/>
              </a:rPr>
              <a:t>Why now — the AI agent era reshapes brand visibility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3A5C"/>
                </a:solidFill>
                <a:latin typeface="PingFang SC"/>
              </a:rPr>
              <a:t>AI agent 时代的品牌 ≠ 传统品牌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103120"/>
            <a:ext cx="356616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2377440"/>
            <a:ext cx="1097280" cy="41148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32304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过去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1752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A3A5C"/>
                </a:solidFill>
                <a:latin typeface="PingFang SC"/>
              </a:rPr>
              <a:t>品牌 = 用户记得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794760"/>
            <a:ext cx="301752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PingFang SC"/>
              </a:rPr>
              <a:t>广告 + 渠道 + 口碑
人会去主动搜你的名字
搜索引擎决定曝光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2103120"/>
            <a:ext cx="356616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63440" y="2377440"/>
            <a:ext cx="1097280" cy="411480"/>
          </a:xfrm>
          <a:prstGeom prst="rect">
            <a:avLst/>
          </a:prstGeom>
          <a:solidFill>
            <a:srgbClr val="E8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2432304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现在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01752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A3A5C"/>
                </a:solidFill>
                <a:latin typeface="PingFang SC"/>
              </a:rPr>
              <a:t>品牌 = AI agent 推荐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794760"/>
            <a:ext cx="301752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PingFang SC"/>
              </a:rPr>
              <a:t>AI 帮人选品牌
agent 读什么资料,品牌就被怎么呈现
AI-readability 成为新竞争力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83880" y="2103120"/>
            <a:ext cx="356616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458200" y="2377440"/>
            <a:ext cx="1097280" cy="41148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58200" y="2432304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未来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301752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A3A5C"/>
                </a:solidFill>
                <a:latin typeface="PingFang SC"/>
              </a:rPr>
              <a:t>品牌 = 被 agent 引用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3794760"/>
            <a:ext cx="301752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PingFang SC"/>
              </a:rPr>
              <a:t>你的 founder 故事
你的产品 positioning
你的 community 真实度
会被 5 个 AI 评委看见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7607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87A3E"/>
                </a:solidFill>
                <a:latin typeface="PingFang SC"/>
              </a:rPr>
              <a:t>MBA = 给品牌做「AI 友好度 + 多视角」体检的第一个工具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PingFang SC"/>
              </a:rPr>
              <a:t>MBA · 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PingFang SC"/>
              </a:rPr>
              <a:t>Demo / Try it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PingFang SC"/>
              </a:rPr>
              <a:t>From 0 to your first audit in 5 minutes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3A5C"/>
                </a:solidFill>
                <a:latin typeface="PingFang SC"/>
              </a:rPr>
              <a:t>5 分钟跑通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5486400" cy="36576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5212080" cy="33832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CBD5E1"/>
                </a:solidFill>
                <a:latin typeface="Menlo"/>
              </a:rPr>
              <a:t># 1. clone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CBD5E1"/>
                </a:solidFill>
                <a:latin typeface="Menlo"/>
              </a:rPr>
              <a:t>git clone https://github.com/zhanglunet/mba.git ~/mba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CBD5E1"/>
                </a:solidFill>
                <a:latin typeface="Menlo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CBD5E1"/>
                </a:solidFill>
                <a:latin typeface="Menlo"/>
              </a:rPr>
              <a:t># 2. configure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CBD5E1"/>
                </a:solidFill>
                <a:latin typeface="Menlo"/>
              </a:rPr>
              <a:t>cd ~/mba &amp;&amp; cp .env.example .env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CBD5E1"/>
                </a:solidFill>
                <a:latin typeface="Menlo"/>
              </a:rPr>
              <a:t># fill in WUYING_API_KEY=akm-...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CBD5E1"/>
                </a:solidFill>
                <a:latin typeface="Menlo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CBD5E1"/>
                </a:solidFill>
                <a:latin typeface="Menlo"/>
              </a:rPr>
              <a:t># 3. install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CBD5E1"/>
                </a:solidFill>
                <a:latin typeface="Menlo"/>
              </a:rPr>
              <a:t>pip3 install --user agentbay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CBD5E1"/>
                </a:solidFill>
                <a:latin typeface="Menlo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CBD5E1"/>
                </a:solidFill>
                <a:latin typeface="Menlo"/>
              </a:rPr>
              <a:t># 4. link to Claude Code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CBD5E1"/>
                </a:solidFill>
                <a:latin typeface="Menlo"/>
              </a:rPr>
              <a:t>ln -s ~/mba/metric-brand-auditor ~/.claude/skills/mba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CBD5E1"/>
                </a:solidFill>
                <a:latin typeface="Menlo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CBD5E1"/>
                </a:solidFill>
                <a:latin typeface="Menlo"/>
              </a:rPr>
              <a:t># 5. run</a:t>
            </a:r>
          </a:p>
          <a:p>
            <a:pPr>
              <a:spcAft>
                <a:spcPts val="0"/>
              </a:spcAft>
            </a:pPr>
            <a:r>
              <a:rPr sz="1100" b="1">
                <a:solidFill>
                  <a:srgbClr val="E87A3E"/>
                </a:solidFill>
                <a:latin typeface="Menlo"/>
              </a:rPr>
              <a:t>/mba YourBrand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09728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3A5C"/>
                </a:solidFill>
                <a:latin typeface="PingFang SC"/>
              </a:rPr>
              <a:t>更多入口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75120" y="1691640"/>
            <a:ext cx="502920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175564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3A5C"/>
                </a:solidFill>
                <a:latin typeface="PingFang SC"/>
              </a:rPr>
              <a:t>📦  GitHub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20574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enlo"/>
              </a:rPr>
              <a:t>github.com/zhanglunet/mba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75120" y="2468880"/>
            <a:ext cx="502920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0" y="253288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3A5C"/>
                </a:solidFill>
                <a:latin typeface="PingFang SC"/>
              </a:rPr>
              <a:t>📖  README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28346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enlo"/>
              </a:rPr>
              <a:t>/README.md  ·  介绍 + 产品结构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75120" y="3246120"/>
            <a:ext cx="502920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331012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3A5C"/>
                </a:solidFill>
                <a:latin typeface="PingFang SC"/>
              </a:rPr>
              <a:t>📚  完整文档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36118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enlo"/>
              </a:rPr>
              <a:t>/docs/  ·  9 篇 + 2750 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75120" y="4023360"/>
            <a:ext cx="502920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0" y="408736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3A5C"/>
                </a:solidFill>
                <a:latin typeface="PingFang SC"/>
              </a:rPr>
              <a:t>🔭  MCP 路线图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43891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enlo"/>
              </a:rPr>
              <a:t>/docs/mcp-server-design.md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75120" y="4800600"/>
            <a:ext cx="502920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486460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3A5C"/>
                </a:solidFill>
                <a:latin typeface="PingFang SC"/>
              </a:rPr>
              <a:t>🦞  Demo 报告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516636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enlo"/>
              </a:rPr>
              <a:t>/metric-brand-auditor/reports/zhifang-atelier/report.html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9436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E87A3E"/>
                </a:solidFill>
                <a:latin typeface="PingFang SC"/>
              </a:rPr>
              <a:t>现场演示请到 reports/zhifang-atelier/report.html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PingFang SC"/>
              </a:rPr>
              <a:t>MBA · 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PingFang SC"/>
              </a:rPr>
              <a:t>Team &amp; Thanks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PingFang SC"/>
              </a:rPr>
              <a:t>三人小队 + AI 共创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920240"/>
            <a:ext cx="3566160" cy="3108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920240"/>
            <a:ext cx="3566160" cy="164592"/>
          </a:xfrm>
          <a:prstGeom prst="rect">
            <a:avLst/>
          </a:prstGeom>
          <a:solidFill>
            <a:srgbClr val="E8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331720"/>
            <a:ext cx="35661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600" b="0">
                <a:solidFill>
                  <a:srgbClr val="1A1A1A"/>
                </a:solidFill>
                <a:latin typeface="PingFang SC"/>
              </a:rPr>
              <a:t>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38328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E87A3E"/>
                </a:solidFill>
                <a:latin typeface="PingFang SC"/>
              </a:rPr>
              <a:t>创意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794759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PingFang SC"/>
              </a:rPr>
              <a:t>Ideation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251960"/>
            <a:ext cx="35661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1A3A5C"/>
                </a:solidFill>
                <a:latin typeface="PingFang SC"/>
              </a:rPr>
              <a:t>Jason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1920240"/>
            <a:ext cx="3566160" cy="3108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920240"/>
            <a:ext cx="3566160" cy="16459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2331720"/>
            <a:ext cx="35661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600" b="0">
                <a:solidFill>
                  <a:srgbClr val="1A1A1A"/>
                </a:solidFill>
                <a:latin typeface="PingFang SC"/>
              </a:rPr>
              <a:t>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338328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6A34A"/>
                </a:solidFill>
                <a:latin typeface="PingFang SC"/>
              </a:rPr>
              <a:t>实现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3794759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PingFang SC"/>
              </a:rPr>
              <a:t>Implementation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4251960"/>
            <a:ext cx="35661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1A3A5C"/>
                </a:solidFill>
                <a:latin typeface="PingFang SC"/>
              </a:rPr>
              <a:t>清风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83880" y="1920240"/>
            <a:ext cx="3566160" cy="3108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83880" y="1920240"/>
            <a:ext cx="3566160" cy="164592"/>
          </a:xfrm>
          <a:prstGeom prst="rect">
            <a:avLst/>
          </a:prstGeom>
          <a:solidFill>
            <a:srgbClr val="6F9D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83880" y="2331720"/>
            <a:ext cx="35661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600" b="0">
                <a:solidFill>
                  <a:srgbClr val="1A1A1A"/>
                </a:solidFill>
                <a:latin typeface="PingFang SC"/>
              </a:rPr>
              <a:t>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80" y="338328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6F9DCF"/>
                </a:solidFill>
                <a:latin typeface="PingFang SC"/>
              </a:rPr>
              <a:t>顾问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80" y="3794759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PingFang SC"/>
              </a:rPr>
              <a:t>Advisor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80" y="4251960"/>
            <a:ext cx="35661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1A3A5C"/>
                </a:solidFill>
                <a:latin typeface="PingFang SC"/>
              </a:rPr>
              <a:t>John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212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CBD5E1"/>
                </a:solidFill>
                <a:latin typeface="PingFang SC"/>
              </a:rPr>
              <a:t>🤖 协作 AI:Claude Opus 4.7  ·  Anthropic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5852160"/>
            <a:ext cx="12191695" cy="1005840"/>
          </a:xfrm>
          <a:prstGeom prst="rect">
            <a:avLst/>
          </a:prstGeom>
          <a:solidFill>
            <a:srgbClr val="E8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59893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PingFang SC"/>
              </a:rPr>
              <a:t>Thank you · 一起让品牌评估有 outsider 视角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PingFang SC"/>
              </a:rPr>
              <a:t>github.com/zhanglunet/mba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